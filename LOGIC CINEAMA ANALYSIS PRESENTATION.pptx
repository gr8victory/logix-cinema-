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008080"/>
    <a:srgbClr val="224CAA"/>
    <a:srgbClr val="1F3AAD"/>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E7AA22-921B-4683-8152-41972D998264}" v="4" dt="2026-07-20T16:26:36.2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rehouse Email" userId="0e843c1d-ba91-4432-93d4-4457ad2c5ff0" providerId="ADAL" clId="{238C34E4-B714-4C68-AF12-7E07F00F1639}"/>
    <pc:docChg chg="custSel modSld">
      <pc:chgData name="Warehouse Email" userId="0e843c1d-ba91-4432-93d4-4457ad2c5ff0" providerId="ADAL" clId="{238C34E4-B714-4C68-AF12-7E07F00F1639}" dt="2026-07-20T17:21:45.586" v="129" actId="20577"/>
      <pc:docMkLst>
        <pc:docMk/>
      </pc:docMkLst>
      <pc:sldChg chg="modSp mod">
        <pc:chgData name="Warehouse Email" userId="0e843c1d-ba91-4432-93d4-4457ad2c5ff0" providerId="ADAL" clId="{238C34E4-B714-4C68-AF12-7E07F00F1639}" dt="2026-07-20T16:25:48.964" v="68" actId="113"/>
        <pc:sldMkLst>
          <pc:docMk/>
          <pc:sldMk cId="1612830082" sldId="256"/>
        </pc:sldMkLst>
        <pc:spChg chg="mod">
          <ac:chgData name="Warehouse Email" userId="0e843c1d-ba91-4432-93d4-4457ad2c5ff0" providerId="ADAL" clId="{238C34E4-B714-4C68-AF12-7E07F00F1639}" dt="2026-07-20T16:25:48.964" v="68" actId="113"/>
          <ac:spMkLst>
            <pc:docMk/>
            <pc:sldMk cId="1612830082" sldId="256"/>
            <ac:spMk id="7" creationId="{5781FAD1-CE06-E667-AF50-2B4C7D88F19E}"/>
          </ac:spMkLst>
        </pc:spChg>
      </pc:sldChg>
      <pc:sldChg chg="modSp mod">
        <pc:chgData name="Warehouse Email" userId="0e843c1d-ba91-4432-93d4-4457ad2c5ff0" providerId="ADAL" clId="{238C34E4-B714-4C68-AF12-7E07F00F1639}" dt="2026-07-20T17:21:45.586" v="129" actId="20577"/>
        <pc:sldMkLst>
          <pc:docMk/>
          <pc:sldMk cId="419275825" sldId="260"/>
        </pc:sldMkLst>
        <pc:spChg chg="mod">
          <ac:chgData name="Warehouse Email" userId="0e843c1d-ba91-4432-93d4-4457ad2c5ff0" providerId="ADAL" clId="{238C34E4-B714-4C68-AF12-7E07F00F1639}" dt="2026-07-20T16:30:13.513" v="91" actId="207"/>
          <ac:spMkLst>
            <pc:docMk/>
            <pc:sldMk cId="419275825" sldId="260"/>
            <ac:spMk id="7" creationId="{76CC1949-213E-436F-BDF5-185337C6198C}"/>
          </ac:spMkLst>
        </pc:spChg>
        <pc:spChg chg="mod">
          <ac:chgData name="Warehouse Email" userId="0e843c1d-ba91-4432-93d4-4457ad2c5ff0" providerId="ADAL" clId="{238C34E4-B714-4C68-AF12-7E07F00F1639}" dt="2026-07-20T16:29:34.927" v="90" actId="207"/>
          <ac:spMkLst>
            <pc:docMk/>
            <pc:sldMk cId="419275825" sldId="260"/>
            <ac:spMk id="9" creationId="{15042393-1B2F-468F-B6D8-19FF4823571B}"/>
          </ac:spMkLst>
        </pc:spChg>
        <pc:spChg chg="mod">
          <ac:chgData name="Warehouse Email" userId="0e843c1d-ba91-4432-93d4-4457ad2c5ff0" providerId="ADAL" clId="{238C34E4-B714-4C68-AF12-7E07F00F1639}" dt="2026-07-20T16:27:47.841" v="81" actId="207"/>
          <ac:spMkLst>
            <pc:docMk/>
            <pc:sldMk cId="419275825" sldId="260"/>
            <ac:spMk id="13" creationId="{C047C0A4-BF82-4CA8-B37F-2953EAAC61C8}"/>
          </ac:spMkLst>
        </pc:spChg>
        <pc:spChg chg="mod">
          <ac:chgData name="Warehouse Email" userId="0e843c1d-ba91-4432-93d4-4457ad2c5ff0" providerId="ADAL" clId="{238C34E4-B714-4C68-AF12-7E07F00F1639}" dt="2026-07-20T17:21:38.871" v="128" actId="14100"/>
          <ac:spMkLst>
            <pc:docMk/>
            <pc:sldMk cId="419275825" sldId="260"/>
            <ac:spMk id="18" creationId="{893EA750-A40F-1E9C-98B0-4AE14424A812}"/>
          </ac:spMkLst>
        </pc:spChg>
        <pc:spChg chg="mod">
          <ac:chgData name="Warehouse Email" userId="0e843c1d-ba91-4432-93d4-4457ad2c5ff0" providerId="ADAL" clId="{238C34E4-B714-4C68-AF12-7E07F00F1639}" dt="2026-07-20T17:21:45.586" v="129" actId="20577"/>
          <ac:spMkLst>
            <pc:docMk/>
            <pc:sldMk cId="419275825" sldId="260"/>
            <ac:spMk id="26" creationId="{6D6DB925-CB40-E29C-0B8B-29DFDD079AE9}"/>
          </ac:spMkLst>
        </pc:spChg>
        <pc:spChg chg="mod">
          <ac:chgData name="Warehouse Email" userId="0e843c1d-ba91-4432-93d4-4457ad2c5ff0" providerId="ADAL" clId="{238C34E4-B714-4C68-AF12-7E07F00F1639}" dt="2026-07-20T16:29:20.286" v="88" actId="207"/>
          <ac:spMkLst>
            <pc:docMk/>
            <pc:sldMk cId="419275825" sldId="260"/>
            <ac:spMk id="29" creationId="{025A05BA-CCF9-41DC-A043-00B4B6900D81}"/>
          </ac:spMkLst>
        </pc:spChg>
        <pc:spChg chg="mod">
          <ac:chgData name="Warehouse Email" userId="0e843c1d-ba91-4432-93d4-4457ad2c5ff0" providerId="ADAL" clId="{238C34E4-B714-4C68-AF12-7E07F00F1639}" dt="2026-07-20T16:29:26.741" v="89" actId="207"/>
          <ac:spMkLst>
            <pc:docMk/>
            <pc:sldMk cId="419275825" sldId="260"/>
            <ac:spMk id="31" creationId="{FA9435AA-D2C1-D72A-CCC4-037F20AAEF07}"/>
          </ac:spMkLst>
        </pc:spChg>
        <pc:spChg chg="mod">
          <ac:chgData name="Warehouse Email" userId="0e843c1d-ba91-4432-93d4-4457ad2c5ff0" providerId="ADAL" clId="{238C34E4-B714-4C68-AF12-7E07F00F1639}" dt="2026-07-20T16:31:00.098" v="95" actId="20577"/>
          <ac:spMkLst>
            <pc:docMk/>
            <pc:sldMk cId="419275825" sldId="260"/>
            <ac:spMk id="32" creationId="{5A0780EA-7254-5679-D3F0-225B89AB6F7B}"/>
          </ac:spMkLst>
        </pc:spChg>
        <pc:spChg chg="mod">
          <ac:chgData name="Warehouse Email" userId="0e843c1d-ba91-4432-93d4-4457ad2c5ff0" providerId="ADAL" clId="{238C34E4-B714-4C68-AF12-7E07F00F1639}" dt="2026-07-20T16:31:09.689" v="105" actId="20577"/>
          <ac:spMkLst>
            <pc:docMk/>
            <pc:sldMk cId="419275825" sldId="260"/>
            <ac:spMk id="34" creationId="{8B0E09E0-9983-2F84-8064-9957ADBFFB49}"/>
          </ac:spMkLst>
        </pc:spChg>
      </pc:sldChg>
      <pc:sldChg chg="modSp mod">
        <pc:chgData name="Warehouse Email" userId="0e843c1d-ba91-4432-93d4-4457ad2c5ff0" providerId="ADAL" clId="{238C34E4-B714-4C68-AF12-7E07F00F1639}" dt="2026-07-20T16:26:47.520" v="78" actId="207"/>
        <pc:sldMkLst>
          <pc:docMk/>
          <pc:sldMk cId="312865800" sldId="262"/>
        </pc:sldMkLst>
        <pc:spChg chg="mod">
          <ac:chgData name="Warehouse Email" userId="0e843c1d-ba91-4432-93d4-4457ad2c5ff0" providerId="ADAL" clId="{238C34E4-B714-4C68-AF12-7E07F00F1639}" dt="2026-07-20T16:26:47.520" v="78" actId="207"/>
          <ac:spMkLst>
            <pc:docMk/>
            <pc:sldMk cId="312865800" sldId="262"/>
            <ac:spMk id="9" creationId="{A7532A7F-3452-C5BF-1CC9-CDF192C68DAC}"/>
          </ac:spMkLst>
        </pc:spChg>
      </pc:sldChg>
      <pc:sldChg chg="modSp mod">
        <pc:chgData name="Warehouse Email" userId="0e843c1d-ba91-4432-93d4-4457ad2c5ff0" providerId="ADAL" clId="{238C34E4-B714-4C68-AF12-7E07F00F1639}" dt="2026-07-20T16:23:07.758" v="24" actId="207"/>
        <pc:sldMkLst>
          <pc:docMk/>
          <pc:sldMk cId="1723310107" sldId="264"/>
        </pc:sldMkLst>
        <pc:spChg chg="mod">
          <ac:chgData name="Warehouse Email" userId="0e843c1d-ba91-4432-93d4-4457ad2c5ff0" providerId="ADAL" clId="{238C34E4-B714-4C68-AF12-7E07F00F1639}" dt="2026-07-20T16:23:07.758" v="24" actId="207"/>
          <ac:spMkLst>
            <pc:docMk/>
            <pc:sldMk cId="1723310107" sldId="264"/>
            <ac:spMk id="10" creationId="{693A9FAA-DD7A-4946-DF3F-67C5C8C5CA18}"/>
          </ac:spMkLst>
        </pc:spChg>
      </pc:sldChg>
      <pc:sldChg chg="modSp mod">
        <pc:chgData name="Warehouse Email" userId="0e843c1d-ba91-4432-93d4-4457ad2c5ff0" providerId="ADAL" clId="{238C34E4-B714-4C68-AF12-7E07F00F1639}" dt="2026-07-20T16:22:31.842" v="22" actId="20577"/>
        <pc:sldMkLst>
          <pc:docMk/>
          <pc:sldMk cId="2494935805" sldId="265"/>
        </pc:sldMkLst>
        <pc:spChg chg="mod">
          <ac:chgData name="Warehouse Email" userId="0e843c1d-ba91-4432-93d4-4457ad2c5ff0" providerId="ADAL" clId="{238C34E4-B714-4C68-AF12-7E07F00F1639}" dt="2026-07-20T16:22:31.842" v="22" actId="20577"/>
          <ac:spMkLst>
            <pc:docMk/>
            <pc:sldMk cId="2494935805" sldId="265"/>
            <ac:spMk id="2" creationId="{0F594546-A41A-150D-EC94-2D1A322B79C5}"/>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pcmcoatingnigeria-my.sharepoint.com/personal/warehouse_pcmnigeria_com/Documents/Cineam%20Ticket%20pric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pcmcoatingnigeria-my.sharepoint.com/personal/warehouse_pcmnigeria_com/Documents/Cineam%20Ticket%20pric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pcmcoatingnigeria-my.sharepoint.com/personal/warehouse_pcmnigeria_com/Documents/Cineam%20Ticket%20price.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[Cineam Ticket price.xlsx]Sheet2!PivotTable7</c:name>
    <c:fmtId val="8"/>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E1321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0D66F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rgbClr val="06DCC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E1321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rgbClr val="0D66F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06DCC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rgbClr val="E1321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rgbClr val="0D66F7"/>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rgbClr val="06DCC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Sum of Optimized Revenue</c:v>
                </c:pt>
              </c:strCache>
            </c:strRef>
          </c:tx>
          <c:spPr>
            <a:solidFill>
              <a:srgbClr val="E13215"/>
            </a:solidFill>
            <a:ln>
              <a:noFill/>
            </a:ln>
            <a:effectLst/>
          </c:spPr>
          <c:invertIfNegative val="0"/>
          <c:cat>
            <c:strRef>
              <c:f>Sheet2!$A$4:$A$10</c:f>
              <c:strCache>
                <c:ptCount val="6"/>
                <c:pt idx="0">
                  <c:v>Apr</c:v>
                </c:pt>
                <c:pt idx="1">
                  <c:v>Feb</c:v>
                </c:pt>
                <c:pt idx="2">
                  <c:v>May</c:v>
                </c:pt>
                <c:pt idx="3">
                  <c:v>Mar</c:v>
                </c:pt>
                <c:pt idx="4">
                  <c:v>Jun</c:v>
                </c:pt>
                <c:pt idx="5">
                  <c:v>Jul</c:v>
                </c:pt>
              </c:strCache>
            </c:strRef>
          </c:cat>
          <c:val>
            <c:numRef>
              <c:f>Sheet2!$B$4:$B$10</c:f>
              <c:numCache>
                <c:formatCode>_-[$₦-469]\ * #,##0.00_-;\-[$₦-469]\ * #,##0.00_-;_-[$₦-469]\ * "-"??_-;_-@_-</c:formatCode>
                <c:ptCount val="6"/>
                <c:pt idx="0">
                  <c:v>10504000</c:v>
                </c:pt>
                <c:pt idx="1">
                  <c:v>5787500</c:v>
                </c:pt>
                <c:pt idx="2">
                  <c:v>5936000</c:v>
                </c:pt>
                <c:pt idx="3">
                  <c:v>5449000</c:v>
                </c:pt>
                <c:pt idx="4">
                  <c:v>6815000</c:v>
                </c:pt>
                <c:pt idx="5">
                  <c:v>6170500</c:v>
                </c:pt>
              </c:numCache>
            </c:numRef>
          </c:val>
          <c:extLst>
            <c:ext xmlns:c16="http://schemas.microsoft.com/office/drawing/2014/chart" uri="{C3380CC4-5D6E-409C-BE32-E72D297353CC}">
              <c16:uniqueId val="{00000000-F934-41F7-A76B-B67E00C884AB}"/>
            </c:ext>
          </c:extLst>
        </c:ser>
        <c:ser>
          <c:idx val="1"/>
          <c:order val="1"/>
          <c:tx>
            <c:strRef>
              <c:f>Sheet2!$C$3</c:f>
              <c:strCache>
                <c:ptCount val="1"/>
                <c:pt idx="0">
                  <c:v>Sum of Fixed         Revenue </c:v>
                </c:pt>
              </c:strCache>
            </c:strRef>
          </c:tx>
          <c:spPr>
            <a:solidFill>
              <a:srgbClr val="0D66F7"/>
            </a:solidFill>
            <a:ln>
              <a:noFill/>
            </a:ln>
            <a:effectLst/>
          </c:spPr>
          <c:invertIfNegative val="0"/>
          <c:cat>
            <c:strRef>
              <c:f>Sheet2!$A$4:$A$10</c:f>
              <c:strCache>
                <c:ptCount val="6"/>
                <c:pt idx="0">
                  <c:v>Apr</c:v>
                </c:pt>
                <c:pt idx="1">
                  <c:v>Feb</c:v>
                </c:pt>
                <c:pt idx="2">
                  <c:v>May</c:v>
                </c:pt>
                <c:pt idx="3">
                  <c:v>Mar</c:v>
                </c:pt>
                <c:pt idx="4">
                  <c:v>Jun</c:v>
                </c:pt>
                <c:pt idx="5">
                  <c:v>Jul</c:v>
                </c:pt>
              </c:strCache>
            </c:strRef>
          </c:cat>
          <c:val>
            <c:numRef>
              <c:f>Sheet2!$C$4:$C$10</c:f>
              <c:numCache>
                <c:formatCode>_-[$₦-469]\ * #,##0.00_-;\-[$₦-469]\ * #,##0.00_-;_-[$₦-469]\ * "-"??_-;_-@_-</c:formatCode>
                <c:ptCount val="6"/>
                <c:pt idx="0">
                  <c:v>10998000</c:v>
                </c:pt>
                <c:pt idx="1">
                  <c:v>6277500</c:v>
                </c:pt>
                <c:pt idx="2">
                  <c:v>6421500</c:v>
                </c:pt>
                <c:pt idx="3">
                  <c:v>5926500</c:v>
                </c:pt>
                <c:pt idx="4">
                  <c:v>7110000</c:v>
                </c:pt>
                <c:pt idx="5">
                  <c:v>6430500</c:v>
                </c:pt>
              </c:numCache>
            </c:numRef>
          </c:val>
          <c:extLst>
            <c:ext xmlns:c16="http://schemas.microsoft.com/office/drawing/2014/chart" uri="{C3380CC4-5D6E-409C-BE32-E72D297353CC}">
              <c16:uniqueId val="{00000001-F934-41F7-A76B-B67E00C884AB}"/>
            </c:ext>
          </c:extLst>
        </c:ser>
        <c:ser>
          <c:idx val="2"/>
          <c:order val="2"/>
          <c:tx>
            <c:strRef>
              <c:f>Sheet2!$D$3</c:f>
              <c:strCache>
                <c:ptCount val="1"/>
                <c:pt idx="0">
                  <c:v>Sum of Full Demand Revenue</c:v>
                </c:pt>
              </c:strCache>
            </c:strRef>
          </c:tx>
          <c:spPr>
            <a:solidFill>
              <a:srgbClr val="06DCC8"/>
            </a:solidFill>
            <a:ln>
              <a:noFill/>
            </a:ln>
            <a:effectLst/>
          </c:spPr>
          <c:invertIfNegative val="0"/>
          <c:cat>
            <c:strRef>
              <c:f>Sheet2!$A$4:$A$10</c:f>
              <c:strCache>
                <c:ptCount val="6"/>
                <c:pt idx="0">
                  <c:v>Apr</c:v>
                </c:pt>
                <c:pt idx="1">
                  <c:v>Feb</c:v>
                </c:pt>
                <c:pt idx="2">
                  <c:v>May</c:v>
                </c:pt>
                <c:pt idx="3">
                  <c:v>Mar</c:v>
                </c:pt>
                <c:pt idx="4">
                  <c:v>Jun</c:v>
                </c:pt>
                <c:pt idx="5">
                  <c:v>Jul</c:v>
                </c:pt>
              </c:strCache>
            </c:strRef>
          </c:cat>
          <c:val>
            <c:numRef>
              <c:f>Sheet2!$D$4:$D$10</c:f>
              <c:numCache>
                <c:formatCode>_-[$₦-469]\ * #,##0.00_-;\-[$₦-469]\ * #,##0.00_-;_-[$₦-469]\ * "-"??_-;_-@_-</c:formatCode>
                <c:ptCount val="6"/>
                <c:pt idx="0">
                  <c:v>10504000</c:v>
                </c:pt>
                <c:pt idx="1">
                  <c:v>7075000</c:v>
                </c:pt>
                <c:pt idx="2">
                  <c:v>7010000</c:v>
                </c:pt>
                <c:pt idx="3">
                  <c:v>6907000</c:v>
                </c:pt>
                <c:pt idx="4">
                  <c:v>5552000</c:v>
                </c:pt>
                <c:pt idx="5">
                  <c:v>5311500</c:v>
                </c:pt>
              </c:numCache>
            </c:numRef>
          </c:val>
          <c:extLst>
            <c:ext xmlns:c16="http://schemas.microsoft.com/office/drawing/2014/chart" uri="{C3380CC4-5D6E-409C-BE32-E72D297353CC}">
              <c16:uniqueId val="{00000002-F934-41F7-A76B-B67E00C884AB}"/>
            </c:ext>
          </c:extLst>
        </c:ser>
        <c:dLbls>
          <c:showLegendKey val="0"/>
          <c:showVal val="0"/>
          <c:showCatName val="0"/>
          <c:showSerName val="0"/>
          <c:showPercent val="0"/>
          <c:showBubbleSize val="0"/>
        </c:dLbls>
        <c:gapWidth val="219"/>
        <c:overlap val="-27"/>
        <c:axId val="1952803328"/>
        <c:axId val="1952804768"/>
      </c:barChart>
      <c:catAx>
        <c:axId val="1952803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52804768"/>
        <c:crosses val="autoZero"/>
        <c:auto val="1"/>
        <c:lblAlgn val="ctr"/>
        <c:lblOffset val="100"/>
        <c:noMultiLvlLbl val="0"/>
      </c:catAx>
      <c:valAx>
        <c:axId val="1952804768"/>
        <c:scaling>
          <c:orientation val="minMax"/>
        </c:scaling>
        <c:delete val="0"/>
        <c:axPos val="l"/>
        <c:majorGridlines>
          <c:spPr>
            <a:ln w="9525" cap="flat" cmpd="sng" algn="ctr">
              <a:solidFill>
                <a:schemeClr val="tx1">
                  <a:lumMod val="15000"/>
                  <a:lumOff val="85000"/>
                </a:schemeClr>
              </a:solidFill>
              <a:round/>
            </a:ln>
            <a:effectLst/>
          </c:spPr>
        </c:majorGridlines>
        <c:numFmt formatCode="_-[$₦-469]\ * #,##0.00_-;\-[$₦-469]\ * #,##0.00_-;_-[$₦-469]\ *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528033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[Cineam Ticket price.xlsx]Sheet2!PivotTable10</c:name>
    <c:fmtId val="2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solidFill>
                  <a:srgbClr val="0D66F7"/>
                </a:solidFill>
              </a:rPr>
              <a:t>Profit/Loss for Unmet</a:t>
            </a:r>
            <a:r>
              <a:rPr lang="en-US" baseline="0">
                <a:solidFill>
                  <a:srgbClr val="0D66F7"/>
                </a:solidFill>
              </a:rPr>
              <a:t> Demands</a:t>
            </a:r>
            <a:r>
              <a:rPr lang="en-US">
                <a:solidFill>
                  <a:srgbClr val="0D66F7"/>
                </a:solidFill>
              </a:rPr>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rgbClr val="00FFCC"/>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0D66F7"/>
          </a:solidFill>
          <a:ln>
            <a:noFill/>
          </a:ln>
          <a:effectLst/>
        </c:spPr>
      </c:pivotFmt>
      <c:pivotFmt>
        <c:idx val="4"/>
        <c:spPr>
          <a:solidFill>
            <a:srgbClr val="0D66F7"/>
          </a:solidFill>
          <a:ln>
            <a:noFill/>
          </a:ln>
          <a:effectLst/>
        </c:spPr>
      </c:pivotFmt>
      <c:pivotFmt>
        <c:idx val="5"/>
        <c:spPr>
          <a:solidFill>
            <a:srgbClr val="00FFCC"/>
          </a:solidFill>
          <a:ln>
            <a:noFill/>
          </a:ln>
          <a:effectLst/>
        </c:spPr>
      </c:pivotFmt>
      <c:pivotFmt>
        <c:idx val="6"/>
        <c:spPr>
          <a:solidFill>
            <a:srgbClr val="00FFCC"/>
          </a:solidFill>
          <a:ln>
            <a:noFill/>
          </a:ln>
          <a:effectLst/>
        </c:spPr>
      </c:pivotFmt>
      <c:pivotFmt>
        <c:idx val="7"/>
        <c:spPr>
          <a:solidFill>
            <a:srgbClr val="00FFCC"/>
          </a:solidFill>
          <a:ln>
            <a:noFill/>
          </a:ln>
          <a:effectLst/>
        </c:spPr>
      </c:pivotFmt>
      <c:pivotFmt>
        <c:idx val="8"/>
        <c:spPr>
          <a:solidFill>
            <a:srgbClr val="00FFCC"/>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0D66F7"/>
          </a:solidFill>
          <a:ln>
            <a:noFill/>
          </a:ln>
          <a:effectLst/>
        </c:spPr>
      </c:pivotFmt>
      <c:pivotFmt>
        <c:idx val="10"/>
        <c:spPr>
          <a:solidFill>
            <a:srgbClr val="0D66F7"/>
          </a:solidFill>
          <a:ln>
            <a:noFill/>
          </a:ln>
          <a:effectLst/>
        </c:spPr>
      </c:pivotFmt>
      <c:pivotFmt>
        <c:idx val="11"/>
        <c:spPr>
          <a:solidFill>
            <a:srgbClr val="00FFCC"/>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rgbClr val="0D66F7"/>
          </a:solidFill>
          <a:ln>
            <a:noFill/>
          </a:ln>
          <a:effectLst/>
        </c:spPr>
      </c:pivotFmt>
      <c:pivotFmt>
        <c:idx val="13"/>
        <c:spPr>
          <a:solidFill>
            <a:srgbClr val="0D66F7"/>
          </a:solidFill>
          <a:ln>
            <a:noFill/>
          </a:ln>
          <a:effectLst/>
        </c:spPr>
      </c:pivotFmt>
    </c:pivotFmts>
    <c:plotArea>
      <c:layout/>
      <c:barChart>
        <c:barDir val="col"/>
        <c:grouping val="clustered"/>
        <c:varyColors val="0"/>
        <c:ser>
          <c:idx val="0"/>
          <c:order val="0"/>
          <c:tx>
            <c:strRef>
              <c:f>Sheet2!$G$3</c:f>
              <c:strCache>
                <c:ptCount val="1"/>
                <c:pt idx="0">
                  <c:v>Total</c:v>
                </c:pt>
              </c:strCache>
            </c:strRef>
          </c:tx>
          <c:spPr>
            <a:solidFill>
              <a:srgbClr val="00FFCC"/>
            </a:solidFill>
            <a:ln>
              <a:noFill/>
            </a:ln>
            <a:effectLst/>
          </c:spPr>
          <c:invertIfNegative val="0"/>
          <c:dPt>
            <c:idx val="0"/>
            <c:invertIfNegative val="0"/>
            <c:bubble3D val="0"/>
            <c:spPr>
              <a:solidFill>
                <a:srgbClr val="0D66F7"/>
              </a:solidFill>
              <a:ln>
                <a:noFill/>
              </a:ln>
              <a:effectLst/>
            </c:spPr>
            <c:extLst>
              <c:ext xmlns:c16="http://schemas.microsoft.com/office/drawing/2014/chart" uri="{C3380CC4-5D6E-409C-BE32-E72D297353CC}">
                <c16:uniqueId val="{00000001-C150-43C4-911D-96FA4B867D42}"/>
              </c:ext>
            </c:extLst>
          </c:dPt>
          <c:dPt>
            <c:idx val="1"/>
            <c:invertIfNegative val="0"/>
            <c:bubble3D val="0"/>
            <c:spPr>
              <a:solidFill>
                <a:srgbClr val="0D66F7"/>
              </a:solidFill>
              <a:ln>
                <a:noFill/>
              </a:ln>
              <a:effectLst/>
            </c:spPr>
            <c:extLst>
              <c:ext xmlns:c16="http://schemas.microsoft.com/office/drawing/2014/chart" uri="{C3380CC4-5D6E-409C-BE32-E72D297353CC}">
                <c16:uniqueId val="{00000003-C150-43C4-911D-96FA4B867D42}"/>
              </c:ext>
            </c:extLst>
          </c:dPt>
          <c:cat>
            <c:strRef>
              <c:f>Sheet2!$F$4:$F$10</c:f>
              <c:strCache>
                <c:ptCount val="6"/>
                <c:pt idx="0">
                  <c:v>Jun</c:v>
                </c:pt>
                <c:pt idx="1">
                  <c:v>Jul</c:v>
                </c:pt>
                <c:pt idx="2">
                  <c:v>Apr</c:v>
                </c:pt>
                <c:pt idx="3">
                  <c:v>May</c:v>
                </c:pt>
                <c:pt idx="4">
                  <c:v>Feb</c:v>
                </c:pt>
                <c:pt idx="5">
                  <c:v>Mar</c:v>
                </c:pt>
              </c:strCache>
            </c:strRef>
          </c:cat>
          <c:val>
            <c:numRef>
              <c:f>Sheet2!$G$4:$G$10</c:f>
              <c:numCache>
                <c:formatCode>_-[$₦-469]\ * #,##0.00_-;\-[$₦-469]\ * #,##0.00_-;_-[$₦-469]\ * "-"??_-;_-@_-</c:formatCode>
                <c:ptCount val="6"/>
                <c:pt idx="0">
                  <c:v>1263000</c:v>
                </c:pt>
                <c:pt idx="1">
                  <c:v>859000</c:v>
                </c:pt>
                <c:pt idx="2">
                  <c:v>0</c:v>
                </c:pt>
                <c:pt idx="3">
                  <c:v>-1074000</c:v>
                </c:pt>
                <c:pt idx="4">
                  <c:v>-1287500</c:v>
                </c:pt>
                <c:pt idx="5">
                  <c:v>-1458000</c:v>
                </c:pt>
              </c:numCache>
            </c:numRef>
          </c:val>
          <c:extLst>
            <c:ext xmlns:c16="http://schemas.microsoft.com/office/drawing/2014/chart" uri="{C3380CC4-5D6E-409C-BE32-E72D297353CC}">
              <c16:uniqueId val="{00000000-EF24-472C-91CA-7542599FEB9D}"/>
            </c:ext>
          </c:extLst>
        </c:ser>
        <c:dLbls>
          <c:showLegendKey val="0"/>
          <c:showVal val="0"/>
          <c:showCatName val="0"/>
          <c:showSerName val="0"/>
          <c:showPercent val="0"/>
          <c:showBubbleSize val="0"/>
        </c:dLbls>
        <c:gapWidth val="219"/>
        <c:overlap val="-27"/>
        <c:axId val="1720886832"/>
        <c:axId val="1720898832"/>
      </c:barChart>
      <c:catAx>
        <c:axId val="1720886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20898832"/>
        <c:crosses val="autoZero"/>
        <c:auto val="1"/>
        <c:lblAlgn val="ctr"/>
        <c:lblOffset val="100"/>
        <c:noMultiLvlLbl val="0"/>
      </c:catAx>
      <c:valAx>
        <c:axId val="1720898832"/>
        <c:scaling>
          <c:orientation val="minMax"/>
        </c:scaling>
        <c:delete val="0"/>
        <c:axPos val="l"/>
        <c:majorGridlines>
          <c:spPr>
            <a:ln w="9525" cap="flat" cmpd="sng" algn="ctr">
              <a:solidFill>
                <a:schemeClr val="tx1">
                  <a:lumMod val="15000"/>
                  <a:lumOff val="85000"/>
                </a:schemeClr>
              </a:solidFill>
              <a:round/>
            </a:ln>
            <a:effectLst/>
          </c:spPr>
        </c:majorGridlines>
        <c:numFmt formatCode="_-[$₦-469]\ * #,##0.00_-;\-[$₦-469]\ * #,##0.00_-;_-[$₦-469]\ *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208868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[Cineam Ticket price.xlsx]Sheet2!PivotTable11</c:name>
    <c:fmtId val="3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solidFill>
                  <a:srgbClr val="0D66F7"/>
                </a:solidFill>
              </a:rPr>
              <a:t>Profit</a:t>
            </a:r>
            <a:r>
              <a:rPr lang="en-US" baseline="0">
                <a:solidFill>
                  <a:srgbClr val="0D66F7"/>
                </a:solidFill>
              </a:rPr>
              <a:t>/Loss for Price not Optimized</a:t>
            </a:r>
            <a:r>
              <a:rPr lang="en-US" baseline="0"/>
              <a:t>	</a:t>
            </a:r>
            <a:endParaRPr lang="en-US"/>
          </a:p>
        </c:rich>
      </c:tx>
      <c:layout>
        <c:manualLayout>
          <c:xMode val="edge"/>
          <c:yMode val="edge"/>
          <c:x val="0.16902022074260217"/>
          <c:y val="3.333334791485035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0D66F7"/>
            </a:solidFill>
            <a:round/>
          </a:ln>
          <a:effectLst/>
        </c:spPr>
        <c:marker>
          <c:symbol val="circle"/>
          <c:size val="5"/>
          <c:spPr>
            <a:solidFill>
              <a:srgbClr val="00FFCC"/>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00FFCC"/>
            </a:solidFill>
            <a:round/>
          </a:ln>
          <a:effectLst/>
        </c:spPr>
      </c:pivotFmt>
      <c:pivotFmt>
        <c:idx val="4"/>
      </c:pivotFmt>
      <c:pivotFmt>
        <c:idx val="5"/>
      </c:pivotFmt>
      <c:pivotFmt>
        <c:idx val="6"/>
      </c:pivotFmt>
      <c:pivotFmt>
        <c:idx val="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0D66F7"/>
            </a:solidFill>
            <a:round/>
          </a:ln>
          <a:effectLst/>
        </c:spPr>
        <c:marker>
          <c:symbol val="circle"/>
          <c:size val="5"/>
          <c:spPr>
            <a:solidFill>
              <a:srgbClr val="00FFCC"/>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0D66F7"/>
            </a:solidFill>
            <a:round/>
          </a:ln>
          <a:effectLst/>
        </c:spPr>
        <c:marker>
          <c:symbol val="circle"/>
          <c:size val="5"/>
          <c:spPr>
            <a:solidFill>
              <a:srgbClr val="00FFCC"/>
            </a:solidFill>
            <a:ln w="9525">
              <a:solidFill>
                <a:schemeClr val="accent1"/>
              </a:solidFill>
            </a:ln>
            <a:effectLst/>
          </c:spPr>
        </c:marker>
      </c:pivotFmt>
      <c:pivotFmt>
        <c:idx val="10"/>
        <c:spPr>
          <a:solidFill>
            <a:schemeClr val="accent1"/>
          </a:solidFill>
          <a:ln w="28575" cap="rnd">
            <a:solidFill>
              <a:srgbClr val="0D66F7"/>
            </a:solidFill>
            <a:round/>
          </a:ln>
          <a:effectLst/>
        </c:spPr>
        <c:marker>
          <c:symbol val="circle"/>
          <c:size val="5"/>
          <c:spPr>
            <a:solidFill>
              <a:srgbClr val="00FFCC"/>
            </a:solidFill>
            <a:ln w="9525">
              <a:solidFill>
                <a:schemeClr val="accent1"/>
              </a:solidFill>
            </a:ln>
            <a:effectLst/>
          </c:spPr>
        </c:marker>
      </c:pivotFmt>
      <c:pivotFmt>
        <c:idx val="11"/>
        <c:spPr>
          <a:solidFill>
            <a:schemeClr val="accent1"/>
          </a:solidFill>
          <a:ln w="28575" cap="rnd">
            <a:solidFill>
              <a:srgbClr val="0D66F7"/>
            </a:solidFill>
            <a:round/>
          </a:ln>
          <a:effectLst/>
        </c:spPr>
        <c:marker>
          <c:symbol val="circle"/>
          <c:size val="5"/>
          <c:spPr>
            <a:solidFill>
              <a:srgbClr val="00FFCC"/>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0D66F7"/>
            </a:solidFill>
            <a:round/>
          </a:ln>
          <a:effectLst/>
        </c:spPr>
        <c:marker>
          <c:symbol val="circle"/>
          <c:size val="5"/>
          <c:spPr>
            <a:solidFill>
              <a:srgbClr val="00FFCC"/>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592478077162122"/>
          <c:y val="0.20050008770782493"/>
          <c:w val="0.70758720823954002"/>
          <c:h val="0.66550947747571199"/>
        </c:manualLayout>
      </c:layout>
      <c:lineChart>
        <c:grouping val="standard"/>
        <c:varyColors val="0"/>
        <c:ser>
          <c:idx val="0"/>
          <c:order val="0"/>
          <c:tx>
            <c:strRef>
              <c:f>Sheet2!$H$14</c:f>
              <c:strCache>
                <c:ptCount val="1"/>
                <c:pt idx="0">
                  <c:v>Total</c:v>
                </c:pt>
              </c:strCache>
            </c:strRef>
          </c:tx>
          <c:spPr>
            <a:ln w="28575" cap="rnd">
              <a:solidFill>
                <a:srgbClr val="0D66F7"/>
              </a:solidFill>
              <a:round/>
            </a:ln>
            <a:effectLst/>
          </c:spPr>
          <c:marker>
            <c:symbol val="circle"/>
            <c:size val="5"/>
            <c:spPr>
              <a:solidFill>
                <a:srgbClr val="00FFCC"/>
              </a:solidFill>
              <a:ln w="9525">
                <a:solidFill>
                  <a:schemeClr val="accent1"/>
                </a:solidFill>
              </a:ln>
              <a:effectLst/>
            </c:spPr>
          </c:marker>
          <c:cat>
            <c:strRef>
              <c:f>Sheet2!$G$15:$G$21</c:f>
              <c:strCache>
                <c:ptCount val="6"/>
                <c:pt idx="0">
                  <c:v>Feb</c:v>
                </c:pt>
                <c:pt idx="1">
                  <c:v>Mar</c:v>
                </c:pt>
                <c:pt idx="2">
                  <c:v>Apr</c:v>
                </c:pt>
                <c:pt idx="3">
                  <c:v>May</c:v>
                </c:pt>
                <c:pt idx="4">
                  <c:v>Jun</c:v>
                </c:pt>
                <c:pt idx="5">
                  <c:v>Jul</c:v>
                </c:pt>
              </c:strCache>
            </c:strRef>
          </c:cat>
          <c:val>
            <c:numRef>
              <c:f>Sheet2!$H$15:$H$21</c:f>
              <c:numCache>
                <c:formatCode>_-[$₦-469]\ * #,##0.00_-;\-[$₦-469]\ * #,##0.00_-;_-[$₦-469]\ * "-"??_-;_-@_-</c:formatCode>
                <c:ptCount val="6"/>
                <c:pt idx="0">
                  <c:v>7075000</c:v>
                </c:pt>
                <c:pt idx="1">
                  <c:v>6907000</c:v>
                </c:pt>
                <c:pt idx="2">
                  <c:v>10504000</c:v>
                </c:pt>
                <c:pt idx="3">
                  <c:v>7010000</c:v>
                </c:pt>
                <c:pt idx="4">
                  <c:v>5552000</c:v>
                </c:pt>
                <c:pt idx="5">
                  <c:v>5311500</c:v>
                </c:pt>
              </c:numCache>
            </c:numRef>
          </c:val>
          <c:smooth val="0"/>
          <c:extLst>
            <c:ext xmlns:c16="http://schemas.microsoft.com/office/drawing/2014/chart" uri="{C3380CC4-5D6E-409C-BE32-E72D297353CC}">
              <c16:uniqueId val="{00000007-79C2-42FE-B99E-B17405542BDC}"/>
            </c:ext>
          </c:extLst>
        </c:ser>
        <c:dLbls>
          <c:showLegendKey val="0"/>
          <c:showVal val="0"/>
          <c:showCatName val="0"/>
          <c:showSerName val="0"/>
          <c:showPercent val="0"/>
          <c:showBubbleSize val="0"/>
        </c:dLbls>
        <c:marker val="1"/>
        <c:smooth val="0"/>
        <c:axId val="1916146208"/>
        <c:axId val="1916121728"/>
      </c:lineChart>
      <c:catAx>
        <c:axId val="191614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6121728"/>
        <c:crosses val="autoZero"/>
        <c:auto val="1"/>
        <c:lblAlgn val="ctr"/>
        <c:lblOffset val="100"/>
        <c:noMultiLvlLbl val="0"/>
      </c:catAx>
      <c:valAx>
        <c:axId val="1916121728"/>
        <c:scaling>
          <c:orientation val="minMax"/>
        </c:scaling>
        <c:delete val="0"/>
        <c:axPos val="l"/>
        <c:numFmt formatCode="_-[$₦-469]\ * #,##0.00_-;\-[$₦-469]\ * #,##0.00_-;_-[$₦-469]\ *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6146208"/>
        <c:crosses val="autoZero"/>
        <c:crossBetween val="between"/>
      </c:valAx>
      <c:spPr>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CEDD4-EE05-F279-E484-0BADBF5177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50B67-75EA-2F70-7BCF-84B16F0D3A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9C9D7C-AA7B-7AE5-594F-A9DC4AFF5B48}"/>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5" name="Footer Placeholder 4">
            <a:extLst>
              <a:ext uri="{FF2B5EF4-FFF2-40B4-BE49-F238E27FC236}">
                <a16:creationId xmlns:a16="http://schemas.microsoft.com/office/drawing/2014/main" id="{0D526D6B-B948-8CD5-A39D-474925356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8F1D9F-324A-07FC-67B1-B346A29F1358}"/>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1757176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D852D-0770-0584-48A2-288D1044D6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83C69D-12D2-962D-B006-6077D8AC37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3ED060-183A-17FA-270E-5B8DDA57D1DB}"/>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5" name="Footer Placeholder 4">
            <a:extLst>
              <a:ext uri="{FF2B5EF4-FFF2-40B4-BE49-F238E27FC236}">
                <a16:creationId xmlns:a16="http://schemas.microsoft.com/office/drawing/2014/main" id="{6EB3023A-1A27-FCA4-8929-D3FE8F773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672E92-C708-72B6-F689-13C1D3AFE442}"/>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1005247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1D26C-C9F1-FFC4-3E3D-63499A0536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B7DFCE-05BE-C1C7-D845-DFB13D2427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BD288F-A277-2B99-38E1-65AFEEC66A69}"/>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5" name="Footer Placeholder 4">
            <a:extLst>
              <a:ext uri="{FF2B5EF4-FFF2-40B4-BE49-F238E27FC236}">
                <a16:creationId xmlns:a16="http://schemas.microsoft.com/office/drawing/2014/main" id="{C9D30F39-64F5-20DD-C56A-0E9B8E65D3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56DC4-68CF-4379-D090-1818373B6332}"/>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2872593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6DA35-A05E-A56F-93A0-600B878C2B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43650D-0C9D-1846-1C68-0240E4FE88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AB94A3-0A33-816E-0AE1-8D347F598C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875FB8-A313-132E-D363-BB5C66AE16CE}"/>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6" name="Footer Placeholder 5">
            <a:extLst>
              <a:ext uri="{FF2B5EF4-FFF2-40B4-BE49-F238E27FC236}">
                <a16:creationId xmlns:a16="http://schemas.microsoft.com/office/drawing/2014/main" id="{4F392248-ACE2-16C6-1B61-AC8D6FFE9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5D3223-5D6A-11B5-5B1A-46DC22EE7FB1}"/>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330526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9A0D-0967-5A16-014C-ECB2C50AB8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F1D447-CE27-3E31-3737-0D7CC3374A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40ACC8-6932-BD4D-BA04-744A28EAD5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93B419-25BA-8540-08FE-23A58BA5B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823299-7F51-827F-9BCC-941E2AAC43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CFFE5A-CF69-2D94-A22E-BF0648ED9FB7}"/>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8" name="Footer Placeholder 7">
            <a:extLst>
              <a:ext uri="{FF2B5EF4-FFF2-40B4-BE49-F238E27FC236}">
                <a16:creationId xmlns:a16="http://schemas.microsoft.com/office/drawing/2014/main" id="{C81FB577-2BFE-F3C3-18BD-987C643F70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1D656D-F9F0-009B-F3A4-79FD7E86D2F8}"/>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3351817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B3786-5AE3-1F98-EA24-176A4F8EF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44D35B-302F-CB87-43F8-087E6D7840F5}"/>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4" name="Footer Placeholder 3">
            <a:extLst>
              <a:ext uri="{FF2B5EF4-FFF2-40B4-BE49-F238E27FC236}">
                <a16:creationId xmlns:a16="http://schemas.microsoft.com/office/drawing/2014/main" id="{A238336B-E361-A01F-2B10-A896D91851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3BD02C-27BF-5C03-5D47-6BEF68283181}"/>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3540442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3FA0DE-D2A1-4F1A-ABC8-2BDBF067D2E0}"/>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3" name="Footer Placeholder 2">
            <a:extLst>
              <a:ext uri="{FF2B5EF4-FFF2-40B4-BE49-F238E27FC236}">
                <a16:creationId xmlns:a16="http://schemas.microsoft.com/office/drawing/2014/main" id="{20371603-555A-58DB-C281-CFA622533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EE0C39-2332-0C90-811A-843D7C9E1897}"/>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2994659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CE38A-5D1E-8D66-130E-1A29588ADD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1DC0F5-2939-60D2-C758-12CD8B529B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9156B2-99AF-1083-34D3-5F4E4939F1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AD5D98-01F7-B096-E5F8-7923DAB9A115}"/>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6" name="Footer Placeholder 5">
            <a:extLst>
              <a:ext uri="{FF2B5EF4-FFF2-40B4-BE49-F238E27FC236}">
                <a16:creationId xmlns:a16="http://schemas.microsoft.com/office/drawing/2014/main" id="{507C7BDD-0679-85F6-9726-041C3CFF5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7F1A67-1DD8-51AA-FAF5-5D76B93ED6D6}"/>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3760050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0CE1-0477-FBD8-515E-56035B6BA8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8DF7E9-A81A-3D51-A5AB-57601CB9D7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EF1838-9772-5E16-2CD3-790A6ECEA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CE9A97-4399-BEFC-02B1-DEE5845D6BCC}"/>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6" name="Footer Placeholder 5">
            <a:extLst>
              <a:ext uri="{FF2B5EF4-FFF2-40B4-BE49-F238E27FC236}">
                <a16:creationId xmlns:a16="http://schemas.microsoft.com/office/drawing/2014/main" id="{576AF419-B790-FAE2-FAAF-16CE342AE1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6AA71D-770A-24E6-6F58-C6081AFACD33}"/>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2642180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7884-42D7-4EE8-8C54-B4F289297D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6E2EA3-9A01-C536-0A34-60803B0113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A4A793-5627-7C5F-6507-CA3B80E5673D}"/>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5" name="Footer Placeholder 4">
            <a:extLst>
              <a:ext uri="{FF2B5EF4-FFF2-40B4-BE49-F238E27FC236}">
                <a16:creationId xmlns:a16="http://schemas.microsoft.com/office/drawing/2014/main" id="{19F3A097-7BCA-511A-6864-9C5315723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651C6-2A15-244C-42D0-D942139744DE}"/>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2805865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F6F8ED-D531-48FE-413C-0C163A2CA0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A83F0A-029E-30FA-B389-1C3913C911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1D8862-25FA-79C0-C95C-21A5729AC009}"/>
              </a:ext>
            </a:extLst>
          </p:cNvPr>
          <p:cNvSpPr>
            <a:spLocks noGrp="1"/>
          </p:cNvSpPr>
          <p:nvPr>
            <p:ph type="dt" sz="half" idx="10"/>
          </p:nvPr>
        </p:nvSpPr>
        <p:spPr/>
        <p:txBody>
          <a:bodyPr/>
          <a:lstStyle/>
          <a:p>
            <a:fld id="{CF284686-D0F4-4CE0-BD55-4CDADDA1F687}" type="datetimeFigureOut">
              <a:rPr lang="en-US" smtClean="0"/>
              <a:t>7/20/2026</a:t>
            </a:fld>
            <a:endParaRPr lang="en-US"/>
          </a:p>
        </p:txBody>
      </p:sp>
      <p:sp>
        <p:nvSpPr>
          <p:cNvPr id="5" name="Footer Placeholder 4">
            <a:extLst>
              <a:ext uri="{FF2B5EF4-FFF2-40B4-BE49-F238E27FC236}">
                <a16:creationId xmlns:a16="http://schemas.microsoft.com/office/drawing/2014/main" id="{13F5BD24-4625-D3BF-C4D4-1D89C2F195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5D9F8-9BE7-2052-EECA-6AFDF1A80F76}"/>
              </a:ext>
            </a:extLst>
          </p:cNvPr>
          <p:cNvSpPr>
            <a:spLocks noGrp="1"/>
          </p:cNvSpPr>
          <p:nvPr>
            <p:ph type="sldNum" sz="quarter" idx="12"/>
          </p:nvPr>
        </p:nvSpPr>
        <p:spPr/>
        <p:txBody>
          <a:bodyPr/>
          <a:lstStyle/>
          <a:p>
            <a:fld id="{D456A06A-E5A6-4C69-AEFF-D5B7DB5FE463}" type="slidenum">
              <a:rPr lang="en-US" smtClean="0"/>
              <a:t>‹#›</a:t>
            </a:fld>
            <a:endParaRPr lang="en-US"/>
          </a:p>
        </p:txBody>
      </p:sp>
    </p:spTree>
    <p:extLst>
      <p:ext uri="{BB962C8B-B14F-4D97-AF65-F5344CB8AC3E}">
        <p14:creationId xmlns:p14="http://schemas.microsoft.com/office/powerpoint/2010/main" val="29059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DCD663-7770-1C5E-A145-9098237EC0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6D6CCE-7FBC-7BD3-8F41-12DDCCA27D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AB480-1DC2-39A6-107B-9437F4E237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284686-D0F4-4CE0-BD55-4CDADDA1F687}" type="datetimeFigureOut">
              <a:rPr lang="en-US" smtClean="0"/>
              <a:t>7/20/2026</a:t>
            </a:fld>
            <a:endParaRPr lang="en-US"/>
          </a:p>
        </p:txBody>
      </p:sp>
      <p:sp>
        <p:nvSpPr>
          <p:cNvPr id="5" name="Footer Placeholder 4">
            <a:extLst>
              <a:ext uri="{FF2B5EF4-FFF2-40B4-BE49-F238E27FC236}">
                <a16:creationId xmlns:a16="http://schemas.microsoft.com/office/drawing/2014/main" id="{0351CF43-7BB4-04F9-D8A7-91B9A84448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C09CAC-D698-A3D6-6954-686ACF290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56A06A-E5A6-4C69-AEFF-D5B7DB5FE463}" type="slidenum">
              <a:rPr lang="en-US" smtClean="0"/>
              <a:t>‹#›</a:t>
            </a:fld>
            <a:endParaRPr lang="en-US"/>
          </a:p>
        </p:txBody>
      </p:sp>
    </p:spTree>
    <p:extLst>
      <p:ext uri="{BB962C8B-B14F-4D97-AF65-F5344CB8AC3E}">
        <p14:creationId xmlns:p14="http://schemas.microsoft.com/office/powerpoint/2010/main" val="9706295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781FAD1-CE06-E667-AF50-2B4C7D88F19E}"/>
              </a:ext>
            </a:extLst>
          </p:cNvPr>
          <p:cNvSpPr txBox="1"/>
          <p:nvPr/>
        </p:nvSpPr>
        <p:spPr>
          <a:xfrm>
            <a:off x="1076631" y="4321276"/>
            <a:ext cx="10323871" cy="1631216"/>
          </a:xfrm>
          <a:prstGeom prst="rect">
            <a:avLst/>
          </a:prstGeom>
          <a:noFill/>
        </p:spPr>
        <p:txBody>
          <a:bodyPr wrap="square" rtlCol="0">
            <a:spAutoFit/>
          </a:bodyPr>
          <a:lstStyle/>
          <a:p>
            <a:pPr algn="ctr"/>
            <a:r>
              <a:rPr lang="en-US" sz="2800" b="1" dirty="0">
                <a:solidFill>
                  <a:srgbClr val="00CC99"/>
                </a:solidFill>
              </a:rPr>
              <a:t>Cinema Ticket Price Optimization Analysis Report</a:t>
            </a:r>
            <a:br>
              <a:rPr lang="en-US" sz="1400" dirty="0"/>
            </a:br>
            <a:r>
              <a:rPr lang="en-US" b="1" dirty="0">
                <a:solidFill>
                  <a:srgbClr val="0070C0"/>
                </a:solidFill>
              </a:rPr>
              <a:t>Refining pricing thresholds may improve future performance.</a:t>
            </a:r>
          </a:p>
          <a:p>
            <a:pPr algn="ctr"/>
            <a:endParaRPr lang="en-US" b="1" dirty="0">
              <a:solidFill>
                <a:srgbClr val="0070C0"/>
              </a:solidFill>
            </a:endParaRPr>
          </a:p>
          <a:p>
            <a:pPr algn="ctr"/>
            <a:endParaRPr lang="en-US" b="1" dirty="0">
              <a:solidFill>
                <a:srgbClr val="0070C0"/>
              </a:solidFill>
            </a:endParaRPr>
          </a:p>
          <a:p>
            <a:pPr algn="ctr"/>
            <a:r>
              <a:rPr lang="en-US" b="1" dirty="0">
                <a:solidFill>
                  <a:srgbClr val="00CC99"/>
                </a:solidFill>
              </a:rPr>
              <a:t>Prepared by: Victor Jackson</a:t>
            </a:r>
          </a:p>
        </p:txBody>
      </p:sp>
      <p:pic>
        <p:nvPicPr>
          <p:cNvPr id="13" name="Picture 12">
            <a:extLst>
              <a:ext uri="{FF2B5EF4-FFF2-40B4-BE49-F238E27FC236}">
                <a16:creationId xmlns:a16="http://schemas.microsoft.com/office/drawing/2014/main" id="{60D605AE-08C4-197D-6123-80F740CA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5895" y="278416"/>
            <a:ext cx="3720210" cy="3720210"/>
          </a:xfrm>
          <a:prstGeom prst="rect">
            <a:avLst/>
          </a:prstGeom>
        </p:spPr>
      </p:pic>
      <p:sp>
        <p:nvSpPr>
          <p:cNvPr id="14" name="Rectangle 13">
            <a:extLst>
              <a:ext uri="{FF2B5EF4-FFF2-40B4-BE49-F238E27FC236}">
                <a16:creationId xmlns:a16="http://schemas.microsoft.com/office/drawing/2014/main" id="{10B2CABF-966E-211E-FA98-9CD96FE2717E}"/>
              </a:ext>
            </a:extLst>
          </p:cNvPr>
          <p:cNvSpPr/>
          <p:nvPr/>
        </p:nvSpPr>
        <p:spPr>
          <a:xfrm>
            <a:off x="1932038" y="3998626"/>
            <a:ext cx="8613058" cy="45719"/>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283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2767A-1C89-E0B9-1346-A152C408A8A9}"/>
              </a:ext>
            </a:extLst>
          </p:cNvPr>
          <p:cNvSpPr>
            <a:spLocks noGrp="1"/>
          </p:cNvSpPr>
          <p:nvPr>
            <p:ph type="ctrTitle"/>
          </p:nvPr>
        </p:nvSpPr>
        <p:spPr>
          <a:xfrm>
            <a:off x="516194" y="766916"/>
            <a:ext cx="11297264" cy="2743047"/>
          </a:xfrm>
        </p:spPr>
        <p:txBody>
          <a:bodyPr>
            <a:noAutofit/>
          </a:bodyPr>
          <a:lstStyle/>
          <a:p>
            <a:pPr algn="l"/>
            <a:r>
              <a:rPr lang="en-US" sz="2800" b="1" dirty="0">
                <a:solidFill>
                  <a:srgbClr val="0070C0"/>
                </a:solidFill>
              </a:rPr>
              <a:t>Business Problem</a:t>
            </a:r>
            <a:br>
              <a:rPr lang="en-US" sz="2800" b="1" dirty="0"/>
            </a:br>
            <a:br>
              <a:rPr lang="en-US" sz="2800" b="1" dirty="0"/>
            </a:br>
            <a:r>
              <a:rPr lang="en-US" sz="2400" b="1" dirty="0">
                <a:solidFill>
                  <a:srgbClr val="0070C0"/>
                </a:solidFill>
              </a:rPr>
              <a:t>Objective</a:t>
            </a:r>
            <a:br>
              <a:rPr lang="en-US" sz="2800" dirty="0"/>
            </a:br>
            <a:r>
              <a:rPr lang="en-US" sz="2800" dirty="0">
                <a:solidFill>
                  <a:srgbClr val="0070C0"/>
                </a:solidFill>
              </a:rPr>
              <a:t>The cinema owner wanted to determine whether implementing demand-based ticket pricing would increase profitability compared to a fixed pricing strategy.</a:t>
            </a:r>
          </a:p>
        </p:txBody>
      </p:sp>
      <p:sp>
        <p:nvSpPr>
          <p:cNvPr id="3" name="Subtitle 2">
            <a:extLst>
              <a:ext uri="{FF2B5EF4-FFF2-40B4-BE49-F238E27FC236}">
                <a16:creationId xmlns:a16="http://schemas.microsoft.com/office/drawing/2014/main" id="{2249B9A6-79D7-88D9-7CA8-51A574442182}"/>
              </a:ext>
            </a:extLst>
          </p:cNvPr>
          <p:cNvSpPr>
            <a:spLocks noGrp="1"/>
          </p:cNvSpPr>
          <p:nvPr>
            <p:ph type="subTitle" idx="1"/>
          </p:nvPr>
        </p:nvSpPr>
        <p:spPr>
          <a:xfrm>
            <a:off x="581658" y="3895515"/>
            <a:ext cx="10151806" cy="1825368"/>
          </a:xfrm>
        </p:spPr>
        <p:txBody>
          <a:bodyPr>
            <a:normAutofit lnSpcReduction="10000"/>
          </a:bodyPr>
          <a:lstStyle/>
          <a:p>
            <a:pPr algn="l"/>
            <a:r>
              <a:rPr lang="en-US" b="1" dirty="0">
                <a:solidFill>
                  <a:srgbClr val="0070C0"/>
                </a:solidFill>
              </a:rPr>
              <a:t>Business Questions</a:t>
            </a:r>
            <a:endParaRPr lang="en-US" dirty="0">
              <a:solidFill>
                <a:srgbClr val="0070C0"/>
              </a:solidFill>
            </a:endParaRPr>
          </a:p>
          <a:p>
            <a:pPr marL="342900" indent="-342900" algn="l">
              <a:buFont typeface="Arial" panose="020B0604020202020204" pitchFamily="34" charset="0"/>
              <a:buChar char="•"/>
            </a:pPr>
            <a:r>
              <a:rPr lang="en-US" sz="2800" dirty="0">
                <a:solidFill>
                  <a:srgbClr val="0070C0"/>
                </a:solidFill>
                <a:latin typeface="+mj-lt"/>
                <a:ea typeface="+mj-ea"/>
                <a:cs typeface="+mj-cs"/>
              </a:rPr>
              <a:t>Does demand-based pricing increase revenue? </a:t>
            </a:r>
          </a:p>
          <a:p>
            <a:pPr marL="342900" indent="-342900" algn="l">
              <a:buFont typeface="Arial" panose="020B0604020202020204" pitchFamily="34" charset="0"/>
              <a:buChar char="•"/>
            </a:pPr>
            <a:r>
              <a:rPr lang="en-US" sz="2800" dirty="0">
                <a:solidFill>
                  <a:srgbClr val="0070C0"/>
                </a:solidFill>
                <a:latin typeface="+mj-lt"/>
                <a:ea typeface="+mj-ea"/>
                <a:cs typeface="+mj-cs"/>
              </a:rPr>
              <a:t>When should ticket prices be increased or reduced? </a:t>
            </a:r>
          </a:p>
          <a:p>
            <a:pPr marL="342900" indent="-342900" algn="l">
              <a:buFont typeface="Arial" panose="020B0604020202020204" pitchFamily="34" charset="0"/>
              <a:buChar char="•"/>
            </a:pPr>
            <a:r>
              <a:rPr lang="en-US" sz="2800" dirty="0">
                <a:solidFill>
                  <a:srgbClr val="0070C0"/>
                </a:solidFill>
                <a:latin typeface="+mj-lt"/>
                <a:ea typeface="+mj-ea"/>
                <a:cs typeface="+mj-cs"/>
              </a:rPr>
              <a:t>What factors contribute to revenue loss?</a:t>
            </a:r>
          </a:p>
          <a:p>
            <a:endParaRPr lang="en-US" dirty="0"/>
          </a:p>
        </p:txBody>
      </p:sp>
      <p:sp>
        <p:nvSpPr>
          <p:cNvPr id="5" name="Rectangle 4">
            <a:extLst>
              <a:ext uri="{FF2B5EF4-FFF2-40B4-BE49-F238E27FC236}">
                <a16:creationId xmlns:a16="http://schemas.microsoft.com/office/drawing/2014/main" id="{5A3236AE-8F94-6670-0630-03662F15C92D}"/>
              </a:ext>
            </a:extLst>
          </p:cNvPr>
          <p:cNvSpPr/>
          <p:nvPr/>
        </p:nvSpPr>
        <p:spPr>
          <a:xfrm>
            <a:off x="624348" y="883607"/>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709DF2E-A669-DB27-608E-1542745976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3464" y="22123"/>
            <a:ext cx="834188" cy="834188"/>
          </a:xfrm>
          <a:prstGeom prst="rect">
            <a:avLst/>
          </a:prstGeom>
        </p:spPr>
      </p:pic>
    </p:spTree>
    <p:extLst>
      <p:ext uri="{BB962C8B-B14F-4D97-AF65-F5344CB8AC3E}">
        <p14:creationId xmlns:p14="http://schemas.microsoft.com/office/powerpoint/2010/main" val="779271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3FED9-C787-E54C-6C4E-4266E8785917}"/>
              </a:ext>
            </a:extLst>
          </p:cNvPr>
          <p:cNvSpPr>
            <a:spLocks noGrp="1"/>
          </p:cNvSpPr>
          <p:nvPr>
            <p:ph type="ctrTitle"/>
          </p:nvPr>
        </p:nvSpPr>
        <p:spPr>
          <a:xfrm>
            <a:off x="548982" y="1240482"/>
            <a:ext cx="7063721" cy="482570"/>
          </a:xfrm>
        </p:spPr>
        <p:txBody>
          <a:bodyPr anchor="ctr">
            <a:normAutofit fontScale="90000"/>
          </a:bodyPr>
          <a:lstStyle/>
          <a:p>
            <a:pPr algn="l"/>
            <a:r>
              <a:rPr lang="en-US" sz="4000" dirty="0">
                <a:solidFill>
                  <a:srgbClr val="0070C0"/>
                </a:solidFill>
              </a:rPr>
              <a:t>Dataset Overview</a:t>
            </a:r>
          </a:p>
        </p:txBody>
      </p:sp>
      <p:graphicFrame>
        <p:nvGraphicFramePr>
          <p:cNvPr id="4" name="Table 3">
            <a:extLst>
              <a:ext uri="{FF2B5EF4-FFF2-40B4-BE49-F238E27FC236}">
                <a16:creationId xmlns:a16="http://schemas.microsoft.com/office/drawing/2014/main" id="{2FE923B9-06E0-A30B-3975-A31F6FAF135F}"/>
              </a:ext>
            </a:extLst>
          </p:cNvPr>
          <p:cNvGraphicFramePr>
            <a:graphicFrameLocks noGrp="1"/>
          </p:cNvGraphicFramePr>
          <p:nvPr>
            <p:extLst>
              <p:ext uri="{D42A27DB-BD31-4B8C-83A1-F6EECF244321}">
                <p14:modId xmlns:p14="http://schemas.microsoft.com/office/powerpoint/2010/main" val="832091336"/>
              </p:ext>
            </p:extLst>
          </p:nvPr>
        </p:nvGraphicFramePr>
        <p:xfrm>
          <a:off x="548982" y="1965142"/>
          <a:ext cx="10551407" cy="4683247"/>
        </p:xfrm>
        <a:graphic>
          <a:graphicData uri="http://schemas.openxmlformats.org/drawingml/2006/table">
            <a:tbl>
              <a:tblPr firstRow="1" bandRow="1">
                <a:tableStyleId>{1E171933-4619-4E11-9A3F-F7608DF75F80}</a:tableStyleId>
              </a:tblPr>
              <a:tblGrid>
                <a:gridCol w="404494">
                  <a:extLst>
                    <a:ext uri="{9D8B030D-6E8A-4147-A177-3AD203B41FA5}">
                      <a16:colId xmlns:a16="http://schemas.microsoft.com/office/drawing/2014/main" val="3871866386"/>
                    </a:ext>
                  </a:extLst>
                </a:gridCol>
                <a:gridCol w="659895">
                  <a:extLst>
                    <a:ext uri="{9D8B030D-6E8A-4147-A177-3AD203B41FA5}">
                      <a16:colId xmlns:a16="http://schemas.microsoft.com/office/drawing/2014/main" val="3553428546"/>
                    </a:ext>
                  </a:extLst>
                </a:gridCol>
                <a:gridCol w="825860">
                  <a:extLst>
                    <a:ext uri="{9D8B030D-6E8A-4147-A177-3AD203B41FA5}">
                      <a16:colId xmlns:a16="http://schemas.microsoft.com/office/drawing/2014/main" val="2759866510"/>
                    </a:ext>
                  </a:extLst>
                </a:gridCol>
                <a:gridCol w="834900">
                  <a:extLst>
                    <a:ext uri="{9D8B030D-6E8A-4147-A177-3AD203B41FA5}">
                      <a16:colId xmlns:a16="http://schemas.microsoft.com/office/drawing/2014/main" val="4276258861"/>
                    </a:ext>
                  </a:extLst>
                </a:gridCol>
                <a:gridCol w="803109">
                  <a:extLst>
                    <a:ext uri="{9D8B030D-6E8A-4147-A177-3AD203B41FA5}">
                      <a16:colId xmlns:a16="http://schemas.microsoft.com/office/drawing/2014/main" val="1425092619"/>
                    </a:ext>
                  </a:extLst>
                </a:gridCol>
                <a:gridCol w="1007937">
                  <a:extLst>
                    <a:ext uri="{9D8B030D-6E8A-4147-A177-3AD203B41FA5}">
                      <a16:colId xmlns:a16="http://schemas.microsoft.com/office/drawing/2014/main" val="3002947651"/>
                    </a:ext>
                  </a:extLst>
                </a:gridCol>
                <a:gridCol w="933039">
                  <a:extLst>
                    <a:ext uri="{9D8B030D-6E8A-4147-A177-3AD203B41FA5}">
                      <a16:colId xmlns:a16="http://schemas.microsoft.com/office/drawing/2014/main" val="2627987698"/>
                    </a:ext>
                  </a:extLst>
                </a:gridCol>
                <a:gridCol w="1007937">
                  <a:extLst>
                    <a:ext uri="{9D8B030D-6E8A-4147-A177-3AD203B41FA5}">
                      <a16:colId xmlns:a16="http://schemas.microsoft.com/office/drawing/2014/main" val="3558744345"/>
                    </a:ext>
                  </a:extLst>
                </a:gridCol>
                <a:gridCol w="1928647">
                  <a:extLst>
                    <a:ext uri="{9D8B030D-6E8A-4147-A177-3AD203B41FA5}">
                      <a16:colId xmlns:a16="http://schemas.microsoft.com/office/drawing/2014/main" val="1009204186"/>
                    </a:ext>
                  </a:extLst>
                </a:gridCol>
                <a:gridCol w="2145589">
                  <a:extLst>
                    <a:ext uri="{9D8B030D-6E8A-4147-A177-3AD203B41FA5}">
                      <a16:colId xmlns:a16="http://schemas.microsoft.com/office/drawing/2014/main" val="1531911876"/>
                    </a:ext>
                  </a:extLst>
                </a:gridCol>
              </a:tblGrid>
              <a:tr h="211128">
                <a:tc>
                  <a:txBody>
                    <a:bodyPr/>
                    <a:lstStyle/>
                    <a:p>
                      <a:pPr algn="ctr" fontAlgn="ctr">
                        <a:buNone/>
                      </a:pPr>
                      <a:r>
                        <a:rPr lang="en-US" sz="800" u="none" strike="noStrike" dirty="0">
                          <a:effectLst/>
                        </a:rPr>
                        <a:t>S/N</a:t>
                      </a:r>
                      <a:endParaRPr lang="en-US" sz="800" b="1" i="0" u="none" strike="noStrike" dirty="0">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dirty="0">
                          <a:effectLst/>
                        </a:rPr>
                        <a:t>Date</a:t>
                      </a:r>
                      <a:endParaRPr lang="en-US" sz="800" b="1" i="0" u="none" strike="noStrike" dirty="0">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a:effectLst/>
                        </a:rPr>
                        <a:t>Demand/Orders</a:t>
                      </a:r>
                      <a:endParaRPr lang="en-US" sz="800" b="1" i="0" u="none" strike="noStrike">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a:effectLst/>
                        </a:rPr>
                        <a:t>Price_per_Ticket</a:t>
                      </a:r>
                      <a:endParaRPr lang="en-US" sz="800" b="1" i="0" u="none" strike="noStrike">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a:effectLst/>
                        </a:rPr>
                        <a:t>Tickets_Sold</a:t>
                      </a:r>
                      <a:endParaRPr lang="en-US" sz="800" b="1" i="0" u="none" strike="noStrike">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a:effectLst/>
                        </a:rPr>
                        <a:t>Optimized Revenue</a:t>
                      </a:r>
                      <a:endParaRPr lang="en-US" sz="800" b="1" i="0" u="none" strike="noStrike">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a:effectLst/>
                        </a:rPr>
                        <a:t>Fixed         Revenue </a:t>
                      </a:r>
                      <a:endParaRPr lang="en-US" sz="800" b="1" i="0" u="none" strike="noStrike">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a:effectLst/>
                        </a:rPr>
                        <a:t>Full Demand Revenue</a:t>
                      </a:r>
                      <a:endParaRPr lang="en-US" sz="800" b="1" i="0" u="none" strike="noStrike">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dirty="0">
                          <a:effectLst/>
                        </a:rPr>
                        <a:t>Revenue profit/Loss      (Unmet Demands)</a:t>
                      </a:r>
                      <a:endParaRPr lang="en-US" sz="800" b="1" i="0" u="none" strike="noStrike" dirty="0">
                        <a:solidFill>
                          <a:srgbClr val="FFFFFF"/>
                        </a:solidFill>
                        <a:effectLst/>
                        <a:latin typeface="Aptos Narrow" panose="020B0004020202020204" pitchFamily="34" charset="0"/>
                      </a:endParaRPr>
                    </a:p>
                  </a:txBody>
                  <a:tcPr marL="5719" marR="5719" marT="5719" marB="0" anchor="ctr"/>
                </a:tc>
                <a:tc>
                  <a:txBody>
                    <a:bodyPr/>
                    <a:lstStyle/>
                    <a:p>
                      <a:pPr algn="ctr" fontAlgn="ctr">
                        <a:buNone/>
                      </a:pPr>
                      <a:r>
                        <a:rPr lang="en-US" sz="800" u="none" strike="noStrike" dirty="0">
                          <a:effectLst/>
                        </a:rPr>
                        <a:t>Revenue profit/Loss      (No price Optimization)</a:t>
                      </a:r>
                      <a:endParaRPr lang="en-US" sz="800" b="1" i="0" u="none" strike="noStrike" dirty="0">
                        <a:solidFill>
                          <a:srgbClr val="FFFFFF"/>
                        </a:solidFill>
                        <a:effectLst/>
                        <a:latin typeface="Aptos Narrow" panose="020B0004020202020204" pitchFamily="34" charset="0"/>
                      </a:endParaRPr>
                    </a:p>
                  </a:txBody>
                  <a:tcPr marL="5719" marR="5719" marT="5719" marB="0" anchor="ctr"/>
                </a:tc>
                <a:extLst>
                  <a:ext uri="{0D108BD9-81ED-4DB2-BD59-A6C34878D82A}">
                    <a16:rowId xmlns:a16="http://schemas.microsoft.com/office/drawing/2014/main" val="2162553897"/>
                  </a:ext>
                </a:extLst>
              </a:tr>
              <a:tr h="211128">
                <a:tc>
                  <a:txBody>
                    <a:bodyPr/>
                    <a:lstStyle/>
                    <a:p>
                      <a:pPr algn="r" fontAlgn="b">
                        <a:buNone/>
                      </a:pPr>
                      <a:r>
                        <a:rPr lang="en-US" sz="800" u="none" strike="noStrike" dirty="0">
                          <a:effectLst/>
                        </a:rPr>
                        <a:t>15</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dirty="0">
                          <a:effectLst/>
                        </a:rPr>
                        <a:t>6/19/2026</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605</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dirty="0">
                          <a:effectLst/>
                        </a:rPr>
                        <a:t>590</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          2,360,000.00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       2,655,000.00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          2,420,000.00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60,000.00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295,000.00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96562451"/>
                  </a:ext>
                </a:extLst>
              </a:tr>
              <a:tr h="211128">
                <a:tc>
                  <a:txBody>
                    <a:bodyPr/>
                    <a:lstStyle/>
                    <a:p>
                      <a:pPr algn="r" fontAlgn="b">
                        <a:buNone/>
                      </a:pPr>
                      <a:r>
                        <a:rPr lang="en-US" sz="800" u="none" strike="noStrike">
                          <a:effectLst/>
                        </a:rPr>
                        <a:t>2</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dirty="0">
                          <a:effectLst/>
                        </a:rPr>
                        <a:t>2/18/2026</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671</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574</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2,296,000.00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2,583,000.00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2,684,000.00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388,000.00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287,000.00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290921836"/>
                  </a:ext>
                </a:extLst>
              </a:tr>
              <a:tr h="211128">
                <a:tc>
                  <a:txBody>
                    <a:bodyPr/>
                    <a:lstStyle/>
                    <a:p>
                      <a:pPr algn="r" fontAlgn="b">
                        <a:buNone/>
                      </a:pPr>
                      <a:r>
                        <a:rPr lang="en-US" sz="800" u="none" strike="noStrike">
                          <a:effectLst/>
                        </a:rPr>
                        <a:t>4</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3/4/2026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dirty="0">
                          <a:effectLst/>
                        </a:rPr>
                        <a:t>610</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543</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2,172,000.00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2,443,500.00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2,440,000.00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268,000.00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271,500.00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1544174580"/>
                  </a:ext>
                </a:extLst>
              </a:tr>
              <a:tr h="211128">
                <a:tc>
                  <a:txBody>
                    <a:bodyPr/>
                    <a:lstStyle/>
                    <a:p>
                      <a:pPr algn="r" fontAlgn="b">
                        <a:buNone/>
                      </a:pPr>
                      <a:r>
                        <a:rPr lang="en-US" sz="800" u="none" strike="noStrike">
                          <a:effectLst/>
                        </a:rPr>
                        <a:t>9</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4/29/2026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dirty="0">
                          <a:effectLst/>
                        </a:rPr>
                        <a:t>615</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543</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2,172,000.00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2,443,500.00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2,460,000.00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288,000.00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271,500.00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35943601"/>
                  </a:ext>
                </a:extLst>
              </a:tr>
              <a:tr h="211128">
                <a:tc>
                  <a:txBody>
                    <a:bodyPr/>
                    <a:lstStyle/>
                    <a:p>
                      <a:pPr algn="r" fontAlgn="b">
                        <a:buNone/>
                      </a:pPr>
                      <a:r>
                        <a:rPr lang="en-US" sz="800" u="none" strike="noStrike">
                          <a:effectLst/>
                        </a:rPr>
                        <a:t>12</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5/30/2026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dirty="0">
                          <a:effectLst/>
                        </a:rPr>
                        <a:t>690</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539</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2,156,000.00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2,425,500.00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2,760,000.00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604,000.00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269,500.00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1978625684"/>
                  </a:ext>
                </a:extLst>
              </a:tr>
              <a:tr h="211128">
                <a:tc>
                  <a:txBody>
                    <a:bodyPr/>
                    <a:lstStyle/>
                    <a:p>
                      <a:pPr algn="r" fontAlgn="b">
                        <a:buNone/>
                      </a:pPr>
                      <a:r>
                        <a:rPr lang="en-US" sz="800" u="none" strike="noStrike">
                          <a:effectLst/>
                        </a:rPr>
                        <a:t>19</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7/19/2026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501</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dirty="0">
                          <a:effectLst/>
                        </a:rPr>
                        <a:t> 4000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520</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2,080,000.00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       2,340,000.00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2,004,000.00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76,000.00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260,000.00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30963135"/>
                  </a:ext>
                </a:extLst>
              </a:tr>
              <a:tr h="211128">
                <a:tc>
                  <a:txBody>
                    <a:bodyPr/>
                    <a:lstStyle/>
                    <a:p>
                      <a:pPr algn="r" fontAlgn="b">
                        <a:buNone/>
                      </a:pPr>
                      <a:r>
                        <a:rPr lang="en-US" sz="800" u="none" strike="noStrike">
                          <a:effectLst/>
                        </a:rPr>
                        <a:t>8</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4/20/2026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553</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dirty="0">
                          <a:effectLst/>
                        </a:rPr>
                        <a:t> 4000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445</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1,780,000.00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2,002,500.00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2,212,000.00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432,000.00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222,500.00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3485777964"/>
                  </a:ext>
                </a:extLst>
              </a:tr>
              <a:tr h="211128">
                <a:tc>
                  <a:txBody>
                    <a:bodyPr/>
                    <a:lstStyle/>
                    <a:p>
                      <a:pPr algn="r" fontAlgn="b">
                        <a:buNone/>
                      </a:pPr>
                      <a:r>
                        <a:rPr lang="en-US" sz="800" u="none" strike="noStrike">
                          <a:effectLst/>
                        </a:rPr>
                        <a:t>11</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5/21/2026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563</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432</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1,728,000.00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1,944,000.00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2,252,000.00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524,000.00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216,000.00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3242583117"/>
                  </a:ext>
                </a:extLst>
              </a:tr>
              <a:tr h="211128">
                <a:tc>
                  <a:txBody>
                    <a:bodyPr/>
                    <a:lstStyle/>
                    <a:p>
                      <a:pPr algn="r" fontAlgn="b">
                        <a:buNone/>
                      </a:pPr>
                      <a:r>
                        <a:rPr lang="en-US" sz="800" u="none" strike="noStrike">
                          <a:effectLst/>
                        </a:rPr>
                        <a:t>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3/26/2026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588</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dirty="0">
                          <a:effectLst/>
                        </a:rPr>
                        <a:t>412</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1,648,000.00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1,854,000.00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2,352,000.00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704,000.00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206,000.00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477464598"/>
                  </a:ext>
                </a:extLst>
              </a:tr>
              <a:tr h="211128">
                <a:tc>
                  <a:txBody>
                    <a:bodyPr/>
                    <a:lstStyle/>
                    <a:p>
                      <a:pPr algn="r" fontAlgn="b">
                        <a:buNone/>
                      </a:pPr>
                      <a:r>
                        <a:rPr lang="en-US" sz="800" u="none" strike="noStrike">
                          <a:effectLst/>
                        </a:rPr>
                        <a:t>3</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2/23/2026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605</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406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1,624,000.00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1,827,000.00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2,420,000.00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796,000.00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203,000.00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484149089"/>
                  </a:ext>
                </a:extLst>
              </a:tr>
              <a:tr h="211128">
                <a:tc>
                  <a:txBody>
                    <a:bodyPr/>
                    <a:lstStyle/>
                    <a:p>
                      <a:pPr algn="r" fontAlgn="b">
                        <a:buNone/>
                      </a:pPr>
                      <a:r>
                        <a:rPr lang="en-US" sz="800" u="none" strike="noStrike">
                          <a:effectLst/>
                        </a:rPr>
                        <a:t>14</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6/13/2026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580</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          2,610,000.00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2,610,000.00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1,431,000.00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1,179,000.00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471337656"/>
                  </a:ext>
                </a:extLst>
              </a:tr>
              <a:tr h="211128">
                <a:tc>
                  <a:txBody>
                    <a:bodyPr/>
                    <a:lstStyle/>
                    <a:p>
                      <a:pPr algn="r" fontAlgn="b">
                        <a:buNone/>
                      </a:pPr>
                      <a:r>
                        <a:rPr lang="en-US" sz="800" u="none" strike="noStrike">
                          <a:effectLst/>
                        </a:rPr>
                        <a:t>18</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7/12/2026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304</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498</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2,241,000.00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2,241,000.00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1,368,000.00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873,000.00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3347855532"/>
                  </a:ext>
                </a:extLst>
              </a:tr>
              <a:tr h="211128">
                <a:tc>
                  <a:txBody>
                    <a:bodyPr/>
                    <a:lstStyle/>
                    <a:p>
                      <a:pPr algn="r" fontAlgn="b">
                        <a:buNone/>
                      </a:pPr>
                      <a:r>
                        <a:rPr lang="en-US" sz="800" u="none" strike="noStrike">
                          <a:effectLst/>
                        </a:rPr>
                        <a:t>7</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4/17/2026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366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527</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          2,371,500.00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2,371,500.00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1,647,000.00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724,500.00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698555794"/>
                  </a:ext>
                </a:extLst>
              </a:tr>
              <a:tr h="211128">
                <a:tc>
                  <a:txBody>
                    <a:bodyPr/>
                    <a:lstStyle/>
                    <a:p>
                      <a:pPr algn="r" fontAlgn="b">
                        <a:buNone/>
                      </a:pPr>
                      <a:r>
                        <a:rPr lang="en-US" sz="800" u="none" strike="noStrike">
                          <a:effectLst/>
                        </a:rPr>
                        <a:t>20</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4/30/2026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463</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565</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2,542,500.00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       2,542,500.00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2,083,500.00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459,000.00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262950010"/>
                  </a:ext>
                </a:extLst>
              </a:tr>
              <a:tr h="211128">
                <a:tc>
                  <a:txBody>
                    <a:bodyPr/>
                    <a:lstStyle/>
                    <a:p>
                      <a:pPr algn="r" fontAlgn="b">
                        <a:buNone/>
                      </a:pPr>
                      <a:r>
                        <a:rPr lang="en-US" sz="800" u="none" strike="noStrike">
                          <a:effectLst/>
                        </a:rPr>
                        <a:t>13</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6/5/2026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378</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410</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1,845,000.00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1,845,000.00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1,701,000.00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144,000.00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3158769077"/>
                  </a:ext>
                </a:extLst>
              </a:tr>
              <a:tr h="211128">
                <a:tc>
                  <a:txBody>
                    <a:bodyPr/>
                    <a:lstStyle/>
                    <a:p>
                      <a:pPr algn="r" fontAlgn="b">
                        <a:buNone/>
                      </a:pPr>
                      <a:r>
                        <a:rPr lang="en-US" sz="800" u="none" strike="noStrike">
                          <a:effectLst/>
                        </a:rPr>
                        <a:t>10</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5/10/2026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444</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456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2,052,000.00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2,052,000.00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          1,998,000.00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54,000.00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821152565"/>
                  </a:ext>
                </a:extLst>
              </a:tr>
              <a:tr h="211128">
                <a:tc>
                  <a:txBody>
                    <a:bodyPr/>
                    <a:lstStyle/>
                    <a:p>
                      <a:pPr algn="r" fontAlgn="b">
                        <a:buNone/>
                      </a:pPr>
                      <a:r>
                        <a:rPr lang="en-US" sz="800" u="none" strike="noStrike">
                          <a:effectLst/>
                        </a:rPr>
                        <a:t>17</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7/7/2026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431</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411</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1,849,500.00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1,849,500.00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1,939,500.00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90,000.00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959779132"/>
                  </a:ext>
                </a:extLst>
              </a:tr>
              <a:tr h="211128">
                <a:tc>
                  <a:txBody>
                    <a:bodyPr/>
                    <a:lstStyle/>
                    <a:p>
                      <a:pPr algn="r" fontAlgn="ctr">
                        <a:buNone/>
                      </a:pPr>
                      <a:r>
                        <a:rPr lang="en-US" sz="800" u="none" strike="noStrike">
                          <a:effectLst/>
                        </a:rPr>
                        <a:t>1</a:t>
                      </a:r>
                      <a:endParaRPr lang="en-US" sz="800" b="0" i="0" u="none" strike="noStrike">
                        <a:solidFill>
                          <a:srgbClr val="000000"/>
                        </a:solidFill>
                        <a:effectLst/>
                        <a:latin typeface="Aptos Narrow" panose="020B0004020202020204" pitchFamily="34" charset="0"/>
                      </a:endParaRPr>
                    </a:p>
                  </a:txBody>
                  <a:tcPr marL="5719" marR="5719" marT="5719" marB="0" anchor="ctr"/>
                </a:tc>
                <a:tc>
                  <a:txBody>
                    <a:bodyPr/>
                    <a:lstStyle/>
                    <a:p>
                      <a:pPr algn="r" fontAlgn="b">
                        <a:buNone/>
                      </a:pPr>
                      <a:r>
                        <a:rPr lang="en-US" sz="800" u="none" strike="noStrike">
                          <a:effectLst/>
                        </a:rPr>
                        <a:t>2/7/2026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438</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415</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1,867,500.00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1,867,500.00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1,971,000.00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t">
                        <a:buNone/>
                      </a:pPr>
                      <a:r>
                        <a:rPr lang="en-US" sz="800" u="none" strike="noStrike">
                          <a:effectLst/>
                        </a:rPr>
                        <a:t>-₦                103,500.00 </a:t>
                      </a:r>
                      <a:endParaRPr lang="en-US" sz="800" b="0" i="0" u="none" strike="noStrike">
                        <a:solidFill>
                          <a:srgbClr val="000000"/>
                        </a:solidFill>
                        <a:effectLst/>
                        <a:latin typeface="Aptos Narrow" panose="020B0004020202020204" pitchFamily="34" charset="0"/>
                      </a:endParaRPr>
                    </a:p>
                  </a:txBody>
                  <a:tcPr marL="5719" marR="5719" marT="5719" marB="0"/>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739791864"/>
                  </a:ext>
                </a:extLst>
              </a:tr>
              <a:tr h="211128">
                <a:tc>
                  <a:txBody>
                    <a:bodyPr/>
                    <a:lstStyle/>
                    <a:p>
                      <a:pPr algn="r" fontAlgn="b">
                        <a:buNone/>
                      </a:pPr>
                      <a:r>
                        <a:rPr lang="en-US" sz="800" u="none" strike="noStrike">
                          <a:effectLst/>
                        </a:rPr>
                        <a:t>16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4/26/2026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467</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364</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1,638,000.00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1,638,000.00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2,101,500.00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dirty="0">
                          <a:effectLst/>
                        </a:rPr>
                        <a:t>-₦                463,500.00 </a:t>
                      </a:r>
                      <a:endParaRPr lang="en-US" sz="800" b="0" i="0" u="none"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4281150077"/>
                  </a:ext>
                </a:extLst>
              </a:tr>
              <a:tr h="211128">
                <a:tc>
                  <a:txBody>
                    <a:bodyPr/>
                    <a:lstStyle/>
                    <a:p>
                      <a:pPr algn="r" fontAlgn="b">
                        <a:buNone/>
                      </a:pPr>
                      <a:r>
                        <a:rPr lang="en-US" sz="800" u="none" strike="noStrike">
                          <a:effectLst/>
                        </a:rPr>
                        <a:t>5</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r" fontAlgn="b">
                        <a:buNone/>
                      </a:pPr>
                      <a:r>
                        <a:rPr lang="en-US" sz="800" u="none" strike="noStrike">
                          <a:effectLst/>
                        </a:rPr>
                        <a:t>3/15/2026</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470</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 4500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none" strike="noStrike">
                          <a:effectLst/>
                        </a:rPr>
                        <a:t>362</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1,629,000.00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1,629,000.00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2,115,000.00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486,000.00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none" strike="noStrike">
                          <a:effectLst/>
                        </a:rPr>
                        <a:t> ₦                                     -   </a:t>
                      </a:r>
                      <a:endParaRPr lang="en-US" sz="800" b="0" i="0" u="none" strike="noStrike">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682284349"/>
                  </a:ext>
                </a:extLst>
              </a:tr>
              <a:tr h="211128">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sng" strike="noStrike">
                          <a:effectLst/>
                        </a:rPr>
                        <a:t>Total</a:t>
                      </a:r>
                      <a:endParaRPr lang="en-US" sz="800" b="1" i="0" u="sng"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sng" strike="noStrike">
                          <a:effectLst/>
                        </a:rPr>
                        <a:t>10080</a:t>
                      </a:r>
                      <a:endParaRPr lang="en-US" sz="800" b="1" i="0" u="sng"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sng" strike="noStrike">
                          <a:effectLst/>
                        </a:rPr>
                        <a:t> </a:t>
                      </a:r>
                      <a:endParaRPr lang="en-US" sz="800" b="1" i="0" u="sng" strike="noStrike">
                        <a:solidFill>
                          <a:srgbClr val="000000"/>
                        </a:solidFill>
                        <a:effectLst/>
                        <a:latin typeface="Aptos Narrow" panose="020B0004020202020204" pitchFamily="34" charset="0"/>
                      </a:endParaRPr>
                    </a:p>
                  </a:txBody>
                  <a:tcPr marL="5719" marR="5719" marT="5719" marB="0" anchor="b"/>
                </a:tc>
                <a:tc>
                  <a:txBody>
                    <a:bodyPr/>
                    <a:lstStyle/>
                    <a:p>
                      <a:pPr algn="ctr" fontAlgn="b">
                        <a:buNone/>
                      </a:pPr>
                      <a:r>
                        <a:rPr lang="en-US" sz="800" u="sng" strike="noStrike" dirty="0">
                          <a:effectLst/>
                        </a:rPr>
                        <a:t>9592</a:t>
                      </a:r>
                      <a:endParaRPr lang="en-US" sz="800" b="1" i="0" u="sng" strike="noStrike" dirty="0">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sng" strike="noStrike">
                          <a:effectLst/>
                        </a:rPr>
                        <a:t> ₦        40,662,000.00 </a:t>
                      </a:r>
                      <a:endParaRPr lang="en-US" sz="800" b="1" i="0" u="sng"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sng" strike="noStrike">
                          <a:effectLst/>
                        </a:rPr>
                        <a:t> ₦    43,164,000.00 </a:t>
                      </a:r>
                      <a:endParaRPr lang="en-US" sz="800" b="1" i="0" u="sng"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sng" strike="noStrike">
                          <a:effectLst/>
                        </a:rPr>
                        <a:t> ₦        42,359,500.00 </a:t>
                      </a:r>
                      <a:endParaRPr lang="en-US" sz="800" b="1" i="0" u="sng"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sng" strike="noStrike">
                          <a:effectLst/>
                        </a:rPr>
                        <a:t>-₦            1,697,500.00 </a:t>
                      </a:r>
                      <a:endParaRPr lang="en-US" sz="800" b="1" i="0" u="sng" strike="noStrike">
                        <a:solidFill>
                          <a:srgbClr val="000000"/>
                        </a:solidFill>
                        <a:effectLst/>
                        <a:latin typeface="Aptos Narrow" panose="020B0004020202020204" pitchFamily="34" charset="0"/>
                      </a:endParaRPr>
                    </a:p>
                  </a:txBody>
                  <a:tcPr marL="5719" marR="5719" marT="5719" marB="0" anchor="b"/>
                </a:tc>
                <a:tc>
                  <a:txBody>
                    <a:bodyPr/>
                    <a:lstStyle/>
                    <a:p>
                      <a:pPr algn="l" fontAlgn="b">
                        <a:buNone/>
                      </a:pPr>
                      <a:r>
                        <a:rPr lang="en-US" sz="800" u="sng" strike="noStrike" dirty="0">
                          <a:effectLst/>
                        </a:rPr>
                        <a:t> ₦                2,502,000.00 </a:t>
                      </a:r>
                      <a:endParaRPr lang="en-US" sz="800" b="1" i="0" u="sng" strike="noStrike" dirty="0">
                        <a:solidFill>
                          <a:srgbClr val="000000"/>
                        </a:solidFill>
                        <a:effectLst/>
                        <a:latin typeface="Aptos Narrow" panose="020B0004020202020204" pitchFamily="34" charset="0"/>
                      </a:endParaRPr>
                    </a:p>
                  </a:txBody>
                  <a:tcPr marL="5719" marR="5719" marT="5719" marB="0" anchor="b"/>
                </a:tc>
                <a:extLst>
                  <a:ext uri="{0D108BD9-81ED-4DB2-BD59-A6C34878D82A}">
                    <a16:rowId xmlns:a16="http://schemas.microsoft.com/office/drawing/2014/main" val="2166996386"/>
                  </a:ext>
                </a:extLst>
              </a:tr>
            </a:tbl>
          </a:graphicData>
        </a:graphic>
      </p:graphicFrame>
      <p:sp>
        <p:nvSpPr>
          <p:cNvPr id="6" name="Rectangle 5">
            <a:extLst>
              <a:ext uri="{FF2B5EF4-FFF2-40B4-BE49-F238E27FC236}">
                <a16:creationId xmlns:a16="http://schemas.microsoft.com/office/drawing/2014/main" id="{8A4460B5-1B88-DC41-A5CA-FE191D0243D2}"/>
              </a:ext>
            </a:extLst>
          </p:cNvPr>
          <p:cNvSpPr/>
          <p:nvPr/>
        </p:nvSpPr>
        <p:spPr>
          <a:xfrm>
            <a:off x="548983" y="954860"/>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141CF02-19D1-DD70-F62C-D865E008B8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4234" y="133159"/>
            <a:ext cx="808053" cy="808053"/>
          </a:xfrm>
          <a:prstGeom prst="rect">
            <a:avLst/>
          </a:prstGeom>
        </p:spPr>
      </p:pic>
    </p:spTree>
    <p:extLst>
      <p:ext uri="{BB962C8B-B14F-4D97-AF65-F5344CB8AC3E}">
        <p14:creationId xmlns:p14="http://schemas.microsoft.com/office/powerpoint/2010/main" val="3889531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AF98E15E-0CC2-7E07-2794-176131BE8DE5}"/>
              </a:ext>
            </a:extLst>
          </p:cNvPr>
          <p:cNvSpPr/>
          <p:nvPr/>
        </p:nvSpPr>
        <p:spPr>
          <a:xfrm>
            <a:off x="1160059" y="4203228"/>
            <a:ext cx="9403308" cy="889748"/>
          </a:xfrm>
          <a:prstGeom prst="rect">
            <a:avLst/>
          </a:prstGeom>
          <a:solidFill>
            <a:schemeClr val="bg1"/>
          </a:solidFill>
          <a:ln>
            <a:solidFill>
              <a:srgbClr val="00CC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10000"/>
                  <a:lumOff val="90000"/>
                </a:schemeClr>
              </a:solidFill>
            </a:endParaRPr>
          </a:p>
        </p:txBody>
      </p:sp>
      <p:sp>
        <p:nvSpPr>
          <p:cNvPr id="3" name="Subtitle 2">
            <a:extLst>
              <a:ext uri="{FF2B5EF4-FFF2-40B4-BE49-F238E27FC236}">
                <a16:creationId xmlns:a16="http://schemas.microsoft.com/office/drawing/2014/main" id="{E30432E9-3225-8FB0-0315-E7CC41C04E1A}"/>
              </a:ext>
            </a:extLst>
          </p:cNvPr>
          <p:cNvSpPr>
            <a:spLocks noGrp="1"/>
          </p:cNvSpPr>
          <p:nvPr>
            <p:ph type="subTitle" idx="1"/>
          </p:nvPr>
        </p:nvSpPr>
        <p:spPr>
          <a:xfrm>
            <a:off x="930323" y="1627504"/>
            <a:ext cx="9633044" cy="1481356"/>
          </a:xfrm>
        </p:spPr>
        <p:txBody>
          <a:bodyPr>
            <a:normAutofit fontScale="47500" lnSpcReduction="20000"/>
          </a:bodyPr>
          <a:lstStyle/>
          <a:p>
            <a:pPr algn="l"/>
            <a:r>
              <a:rPr lang="en-US" sz="3400" dirty="0">
                <a:solidFill>
                  <a:srgbClr val="0070C0"/>
                </a:solidFill>
              </a:rPr>
              <a:t>The cinema Owner uses a </a:t>
            </a:r>
            <a:r>
              <a:rPr lang="en-US" sz="3400" b="1" dirty="0">
                <a:solidFill>
                  <a:srgbClr val="0070C0"/>
                </a:solidFill>
              </a:rPr>
              <a:t>volume-based pricing strategy</a:t>
            </a:r>
            <a:r>
              <a:rPr lang="en-US" sz="3400" dirty="0">
                <a:solidFill>
                  <a:srgbClr val="0070C0"/>
                </a:solidFill>
              </a:rPr>
              <a:t> rather than a surge-pricing strategy.</a:t>
            </a:r>
          </a:p>
          <a:p>
            <a:pPr marL="342900" indent="-342900" algn="l">
              <a:buFont typeface="Arial" panose="020B0604020202020204" pitchFamily="34" charset="0"/>
              <a:buChar char="•"/>
            </a:pPr>
            <a:r>
              <a:rPr lang="en-US" sz="3400" b="1" dirty="0">
                <a:solidFill>
                  <a:srgbClr val="0070C0"/>
                </a:solidFill>
              </a:rPr>
              <a:t>When demand is 50% or below (500 people or fewer),</a:t>
            </a:r>
            <a:r>
              <a:rPr lang="en-US" sz="3400" dirty="0">
                <a:solidFill>
                  <a:srgbClr val="0070C0"/>
                </a:solidFill>
              </a:rPr>
              <a:t> tickets are sold at </a:t>
            </a:r>
            <a:r>
              <a:rPr lang="en-US" sz="3400" b="1" dirty="0">
                <a:solidFill>
                  <a:srgbClr val="0070C0"/>
                </a:solidFill>
              </a:rPr>
              <a:t>₦4,500</a:t>
            </a:r>
            <a:r>
              <a:rPr lang="en-US" sz="3400" dirty="0">
                <a:solidFill>
                  <a:srgbClr val="0070C0"/>
                </a:solidFill>
              </a:rPr>
              <a:t> because attendance is relatively low and a higher ticket price helps maintain revenue per customer. </a:t>
            </a:r>
          </a:p>
          <a:p>
            <a:pPr marL="342900" indent="-342900" algn="l">
              <a:buFont typeface="Arial" panose="020B0604020202020204" pitchFamily="34" charset="0"/>
              <a:buChar char="•"/>
            </a:pPr>
            <a:r>
              <a:rPr lang="en-US" sz="3400" b="1" dirty="0">
                <a:solidFill>
                  <a:srgbClr val="0070C0"/>
                </a:solidFill>
              </a:rPr>
              <a:t>When demand exceeds 50% (more than 500 people),</a:t>
            </a:r>
            <a:r>
              <a:rPr lang="en-US" sz="3400" dirty="0">
                <a:solidFill>
                  <a:srgbClr val="0070C0"/>
                </a:solidFill>
              </a:rPr>
              <a:t> the ticket price is reduced to </a:t>
            </a:r>
            <a:r>
              <a:rPr lang="en-US" sz="3400" b="1" dirty="0">
                <a:solidFill>
                  <a:srgbClr val="0070C0"/>
                </a:solidFill>
              </a:rPr>
              <a:t>₦4,000</a:t>
            </a:r>
            <a:r>
              <a:rPr lang="en-US" sz="3400" dirty="0">
                <a:solidFill>
                  <a:srgbClr val="0070C0"/>
                </a:solidFill>
              </a:rPr>
              <a:t>. Although the price per ticket is lower, the higher number of customers increases total revenue and encourages even more people to attend.</a:t>
            </a:r>
          </a:p>
          <a:p>
            <a:pPr algn="l"/>
            <a:endParaRPr lang="en-US" sz="3400" dirty="0">
              <a:solidFill>
                <a:srgbClr val="1F3AAD"/>
              </a:solidFill>
            </a:endParaRPr>
          </a:p>
          <a:p>
            <a:pPr algn="l"/>
            <a:endParaRPr lang="en-US" dirty="0">
              <a:solidFill>
                <a:srgbClr val="1F3AAD"/>
              </a:solidFill>
            </a:endParaRPr>
          </a:p>
          <a:p>
            <a:pPr algn="l"/>
            <a:endParaRPr lang="en-US" dirty="0">
              <a:solidFill>
                <a:srgbClr val="1F3AAD"/>
              </a:solidFill>
            </a:endParaRPr>
          </a:p>
          <a:p>
            <a:pPr algn="l"/>
            <a:endParaRPr lang="en-US" dirty="0">
              <a:solidFill>
                <a:srgbClr val="1F3AAD"/>
              </a:solidFill>
            </a:endParaRPr>
          </a:p>
          <a:p>
            <a:pPr algn="l"/>
            <a:endParaRPr lang="en-US" dirty="0">
              <a:solidFill>
                <a:srgbClr val="1F3AAD"/>
              </a:solidFill>
            </a:endParaRPr>
          </a:p>
          <a:p>
            <a:pPr algn="l"/>
            <a:endParaRPr lang="en-US" dirty="0"/>
          </a:p>
          <a:p>
            <a:endParaRPr lang="en-US" dirty="0"/>
          </a:p>
        </p:txBody>
      </p:sp>
      <p:pic>
        <p:nvPicPr>
          <p:cNvPr id="8" name="Graphic 7" descr="Money with solid fill">
            <a:extLst>
              <a:ext uri="{FF2B5EF4-FFF2-40B4-BE49-F238E27FC236}">
                <a16:creationId xmlns:a16="http://schemas.microsoft.com/office/drawing/2014/main" id="{E17723A3-E71C-D17E-386A-7FB1E3498E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8341" y="5038676"/>
            <a:ext cx="1335206" cy="1335206"/>
          </a:xfrm>
          <a:prstGeom prst="rect">
            <a:avLst/>
          </a:prstGeom>
        </p:spPr>
      </p:pic>
      <p:pic>
        <p:nvPicPr>
          <p:cNvPr id="10" name="Graphic 9" descr="Money with solid fill">
            <a:extLst>
              <a:ext uri="{FF2B5EF4-FFF2-40B4-BE49-F238E27FC236}">
                <a16:creationId xmlns:a16="http://schemas.microsoft.com/office/drawing/2014/main" id="{F6DE41C5-670B-76EE-FB02-44A7D00C6C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90850" y="5032616"/>
            <a:ext cx="1335206" cy="1335206"/>
          </a:xfrm>
          <a:prstGeom prst="rect">
            <a:avLst/>
          </a:prstGeom>
        </p:spPr>
      </p:pic>
      <p:sp>
        <p:nvSpPr>
          <p:cNvPr id="13" name="TextBox 12">
            <a:extLst>
              <a:ext uri="{FF2B5EF4-FFF2-40B4-BE49-F238E27FC236}">
                <a16:creationId xmlns:a16="http://schemas.microsoft.com/office/drawing/2014/main" id="{3BD67A03-A5C5-07AA-7B3F-F241BDD824AD}"/>
              </a:ext>
            </a:extLst>
          </p:cNvPr>
          <p:cNvSpPr txBox="1"/>
          <p:nvPr/>
        </p:nvSpPr>
        <p:spPr>
          <a:xfrm>
            <a:off x="2030101" y="6180098"/>
            <a:ext cx="1629629" cy="369332"/>
          </a:xfrm>
          <a:prstGeom prst="rect">
            <a:avLst/>
          </a:prstGeom>
          <a:noFill/>
        </p:spPr>
        <p:txBody>
          <a:bodyPr wrap="square" rtlCol="0">
            <a:spAutoFit/>
          </a:bodyPr>
          <a:lstStyle/>
          <a:p>
            <a:r>
              <a:rPr lang="en-US" b="1" dirty="0">
                <a:solidFill>
                  <a:srgbClr val="224CAA"/>
                </a:solidFill>
              </a:rPr>
              <a:t>Fixed Pricing</a:t>
            </a:r>
          </a:p>
        </p:txBody>
      </p:sp>
      <p:sp>
        <p:nvSpPr>
          <p:cNvPr id="15" name="TextBox 14">
            <a:extLst>
              <a:ext uri="{FF2B5EF4-FFF2-40B4-BE49-F238E27FC236}">
                <a16:creationId xmlns:a16="http://schemas.microsoft.com/office/drawing/2014/main" id="{670FD5BC-5327-F995-786C-BAC13536EC37}"/>
              </a:ext>
            </a:extLst>
          </p:cNvPr>
          <p:cNvSpPr txBox="1"/>
          <p:nvPr/>
        </p:nvSpPr>
        <p:spPr>
          <a:xfrm>
            <a:off x="7867759" y="6187344"/>
            <a:ext cx="2144012" cy="369332"/>
          </a:xfrm>
          <a:prstGeom prst="rect">
            <a:avLst/>
          </a:prstGeom>
          <a:noFill/>
        </p:spPr>
        <p:txBody>
          <a:bodyPr wrap="square" rtlCol="0">
            <a:spAutoFit/>
          </a:bodyPr>
          <a:lstStyle/>
          <a:p>
            <a:r>
              <a:rPr lang="en-US" b="1" dirty="0">
                <a:solidFill>
                  <a:srgbClr val="00CC99"/>
                </a:solidFill>
              </a:rPr>
              <a:t>Optimized Pricing</a:t>
            </a:r>
          </a:p>
        </p:txBody>
      </p:sp>
      <p:pic>
        <p:nvPicPr>
          <p:cNvPr id="19" name="Graphic 18" descr="Arrow: Clockwise curve with solid fill">
            <a:extLst>
              <a:ext uri="{FF2B5EF4-FFF2-40B4-BE49-F238E27FC236}">
                <a16:creationId xmlns:a16="http://schemas.microsoft.com/office/drawing/2014/main" id="{D850A20E-970A-E425-F5E7-B5E6A95951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6200000">
            <a:off x="5074330" y="5161058"/>
            <a:ext cx="939975" cy="2304342"/>
          </a:xfrm>
          <a:prstGeom prst="rect">
            <a:avLst/>
          </a:prstGeom>
        </p:spPr>
      </p:pic>
      <p:pic>
        <p:nvPicPr>
          <p:cNvPr id="23" name="Graphic 22" descr="Arrow: Clockwise curve with solid fill">
            <a:extLst>
              <a:ext uri="{FF2B5EF4-FFF2-40B4-BE49-F238E27FC236}">
                <a16:creationId xmlns:a16="http://schemas.microsoft.com/office/drawing/2014/main" id="{CB397952-6568-CB55-6F5B-F4BF88CA35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5437678" y="4350432"/>
            <a:ext cx="939975" cy="2304342"/>
          </a:xfrm>
          <a:prstGeom prst="rect">
            <a:avLst/>
          </a:prstGeom>
        </p:spPr>
      </p:pic>
      <p:graphicFrame>
        <p:nvGraphicFramePr>
          <p:cNvPr id="29" name="Table 28">
            <a:extLst>
              <a:ext uri="{FF2B5EF4-FFF2-40B4-BE49-F238E27FC236}">
                <a16:creationId xmlns:a16="http://schemas.microsoft.com/office/drawing/2014/main" id="{287AD4CF-7AFA-111D-98CE-C42D25985E81}"/>
              </a:ext>
            </a:extLst>
          </p:cNvPr>
          <p:cNvGraphicFramePr>
            <a:graphicFrameLocks noGrp="1"/>
          </p:cNvGraphicFramePr>
          <p:nvPr>
            <p:extLst>
              <p:ext uri="{D42A27DB-BD31-4B8C-83A1-F6EECF244321}">
                <p14:modId xmlns:p14="http://schemas.microsoft.com/office/powerpoint/2010/main" val="1875741928"/>
              </p:ext>
            </p:extLst>
          </p:nvPr>
        </p:nvGraphicFramePr>
        <p:xfrm>
          <a:off x="1160059" y="3108973"/>
          <a:ext cx="9403308" cy="914400"/>
        </p:xfrm>
        <a:graphic>
          <a:graphicData uri="http://schemas.openxmlformats.org/drawingml/2006/table">
            <a:tbl>
              <a:tblPr>
                <a:tableStyleId>{8799B23B-EC83-4686-B30A-512413B5E67A}</a:tableStyleId>
              </a:tblPr>
              <a:tblGrid>
                <a:gridCol w="2836730">
                  <a:extLst>
                    <a:ext uri="{9D8B030D-6E8A-4147-A177-3AD203B41FA5}">
                      <a16:colId xmlns:a16="http://schemas.microsoft.com/office/drawing/2014/main" val="180212060"/>
                    </a:ext>
                  </a:extLst>
                </a:gridCol>
                <a:gridCol w="3283289">
                  <a:extLst>
                    <a:ext uri="{9D8B030D-6E8A-4147-A177-3AD203B41FA5}">
                      <a16:colId xmlns:a16="http://schemas.microsoft.com/office/drawing/2014/main" val="1825648246"/>
                    </a:ext>
                  </a:extLst>
                </a:gridCol>
                <a:gridCol w="3283289">
                  <a:extLst>
                    <a:ext uri="{9D8B030D-6E8A-4147-A177-3AD203B41FA5}">
                      <a16:colId xmlns:a16="http://schemas.microsoft.com/office/drawing/2014/main" val="3051883723"/>
                    </a:ext>
                  </a:extLst>
                </a:gridCol>
              </a:tblGrid>
              <a:tr h="269781">
                <a:tc>
                  <a:txBody>
                    <a:bodyPr/>
                    <a:lstStyle/>
                    <a:p>
                      <a:pPr>
                        <a:buNone/>
                      </a:pPr>
                      <a:r>
                        <a:rPr lang="en-US" sz="1400">
                          <a:solidFill>
                            <a:srgbClr val="0070C0"/>
                          </a:solidFill>
                        </a:rPr>
                        <a:t>Demand (People)</a:t>
                      </a:r>
                    </a:p>
                  </a:txBody>
                  <a:tcPr anchor="ctr"/>
                </a:tc>
                <a:tc>
                  <a:txBody>
                    <a:bodyPr/>
                    <a:lstStyle/>
                    <a:p>
                      <a:pPr>
                        <a:buNone/>
                      </a:pPr>
                      <a:r>
                        <a:rPr lang="en-US" sz="1400">
                          <a:solidFill>
                            <a:srgbClr val="0070C0"/>
                          </a:solidFill>
                        </a:rPr>
                        <a:t>Demand Percentage</a:t>
                      </a:r>
                    </a:p>
                  </a:txBody>
                  <a:tcPr anchor="ctr"/>
                </a:tc>
                <a:tc>
                  <a:txBody>
                    <a:bodyPr/>
                    <a:lstStyle/>
                    <a:p>
                      <a:pPr algn="r">
                        <a:buNone/>
                      </a:pPr>
                      <a:r>
                        <a:rPr lang="en-US" sz="1400">
                          <a:solidFill>
                            <a:srgbClr val="0070C0"/>
                          </a:solidFill>
                        </a:rPr>
                        <a:t>Ticket Price</a:t>
                      </a:r>
                    </a:p>
                  </a:txBody>
                  <a:tcPr anchor="ctr"/>
                </a:tc>
                <a:extLst>
                  <a:ext uri="{0D108BD9-81ED-4DB2-BD59-A6C34878D82A}">
                    <a16:rowId xmlns:a16="http://schemas.microsoft.com/office/drawing/2014/main" val="3285659872"/>
                  </a:ext>
                </a:extLst>
              </a:tr>
              <a:tr h="269781">
                <a:tc>
                  <a:txBody>
                    <a:bodyPr/>
                    <a:lstStyle/>
                    <a:p>
                      <a:pPr>
                        <a:buNone/>
                      </a:pPr>
                      <a:r>
                        <a:rPr lang="en-US" sz="1400" b="1">
                          <a:solidFill>
                            <a:srgbClr val="0070C0"/>
                          </a:solidFill>
                        </a:rPr>
                        <a:t>500 people or below</a:t>
                      </a:r>
                      <a:endParaRPr lang="en-US" sz="1400">
                        <a:solidFill>
                          <a:srgbClr val="0070C0"/>
                        </a:solidFill>
                      </a:endParaRPr>
                    </a:p>
                  </a:txBody>
                  <a:tcPr anchor="ctr"/>
                </a:tc>
                <a:tc>
                  <a:txBody>
                    <a:bodyPr/>
                    <a:lstStyle/>
                    <a:p>
                      <a:pPr>
                        <a:buNone/>
                      </a:pPr>
                      <a:r>
                        <a:rPr lang="en-US" sz="1400" b="1">
                          <a:solidFill>
                            <a:srgbClr val="0070C0"/>
                          </a:solidFill>
                        </a:rPr>
                        <a:t>0%–50% demand</a:t>
                      </a:r>
                      <a:endParaRPr lang="en-US" sz="1400">
                        <a:solidFill>
                          <a:srgbClr val="0070C0"/>
                        </a:solidFill>
                      </a:endParaRPr>
                    </a:p>
                  </a:txBody>
                  <a:tcPr anchor="ctr"/>
                </a:tc>
                <a:tc>
                  <a:txBody>
                    <a:bodyPr/>
                    <a:lstStyle/>
                    <a:p>
                      <a:pPr algn="r">
                        <a:buNone/>
                      </a:pPr>
                      <a:r>
                        <a:rPr lang="en-US" sz="1400" b="1" dirty="0">
                          <a:solidFill>
                            <a:srgbClr val="0070C0"/>
                          </a:solidFill>
                        </a:rPr>
                        <a:t>₦4,500</a:t>
                      </a:r>
                      <a:endParaRPr lang="en-US" sz="1400" dirty="0">
                        <a:solidFill>
                          <a:srgbClr val="0070C0"/>
                        </a:solidFill>
                      </a:endParaRPr>
                    </a:p>
                  </a:txBody>
                  <a:tcPr anchor="ctr"/>
                </a:tc>
                <a:extLst>
                  <a:ext uri="{0D108BD9-81ED-4DB2-BD59-A6C34878D82A}">
                    <a16:rowId xmlns:a16="http://schemas.microsoft.com/office/drawing/2014/main" val="1749295386"/>
                  </a:ext>
                </a:extLst>
              </a:tr>
              <a:tr h="288972">
                <a:tc>
                  <a:txBody>
                    <a:bodyPr/>
                    <a:lstStyle/>
                    <a:p>
                      <a:pPr>
                        <a:buNone/>
                      </a:pPr>
                      <a:r>
                        <a:rPr lang="en-US" sz="1400" b="1" dirty="0">
                          <a:solidFill>
                            <a:srgbClr val="0070C0"/>
                          </a:solidFill>
                        </a:rPr>
                        <a:t>Above 500 people</a:t>
                      </a:r>
                      <a:endParaRPr lang="en-US" sz="1400" dirty="0">
                        <a:solidFill>
                          <a:srgbClr val="0070C0"/>
                        </a:solidFill>
                      </a:endParaRPr>
                    </a:p>
                  </a:txBody>
                  <a:tcPr anchor="ctr"/>
                </a:tc>
                <a:tc>
                  <a:txBody>
                    <a:bodyPr/>
                    <a:lstStyle/>
                    <a:p>
                      <a:pPr>
                        <a:buNone/>
                      </a:pPr>
                      <a:r>
                        <a:rPr lang="en-US" sz="1400" b="1" dirty="0">
                          <a:solidFill>
                            <a:srgbClr val="0070C0"/>
                          </a:solidFill>
                        </a:rPr>
                        <a:t>Above 50% demand</a:t>
                      </a:r>
                      <a:endParaRPr lang="en-US" sz="1400" dirty="0">
                        <a:solidFill>
                          <a:srgbClr val="0070C0"/>
                        </a:solidFill>
                      </a:endParaRPr>
                    </a:p>
                  </a:txBody>
                  <a:tcPr anchor="ctr"/>
                </a:tc>
                <a:tc>
                  <a:txBody>
                    <a:bodyPr/>
                    <a:lstStyle/>
                    <a:p>
                      <a:pPr algn="r">
                        <a:buNone/>
                      </a:pPr>
                      <a:r>
                        <a:rPr lang="en-US" sz="1400" b="1" dirty="0">
                          <a:solidFill>
                            <a:srgbClr val="0070C0"/>
                          </a:solidFill>
                        </a:rPr>
                        <a:t>₦4,000</a:t>
                      </a:r>
                      <a:endParaRPr lang="en-US" sz="1400" dirty="0">
                        <a:solidFill>
                          <a:srgbClr val="0070C0"/>
                        </a:solidFill>
                      </a:endParaRPr>
                    </a:p>
                  </a:txBody>
                  <a:tcPr anchor="ctr"/>
                </a:tc>
                <a:extLst>
                  <a:ext uri="{0D108BD9-81ED-4DB2-BD59-A6C34878D82A}">
                    <a16:rowId xmlns:a16="http://schemas.microsoft.com/office/drawing/2014/main" val="2824293537"/>
                  </a:ext>
                </a:extLst>
              </a:tr>
            </a:tbl>
          </a:graphicData>
        </a:graphic>
      </p:graphicFrame>
      <p:sp>
        <p:nvSpPr>
          <p:cNvPr id="30" name="Subtitle 2">
            <a:extLst>
              <a:ext uri="{FF2B5EF4-FFF2-40B4-BE49-F238E27FC236}">
                <a16:creationId xmlns:a16="http://schemas.microsoft.com/office/drawing/2014/main" id="{C29F5161-8809-EB60-E959-802E420299D0}"/>
              </a:ext>
            </a:extLst>
          </p:cNvPr>
          <p:cNvSpPr txBox="1">
            <a:spLocks/>
          </p:cNvSpPr>
          <p:nvPr/>
        </p:nvSpPr>
        <p:spPr>
          <a:xfrm>
            <a:off x="1378424" y="4263590"/>
            <a:ext cx="9212239" cy="782674"/>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400" b="1" dirty="0">
                <a:solidFill>
                  <a:srgbClr val="00CC99"/>
                </a:solidFill>
              </a:rPr>
              <a:t>Insight: The pricing strategy is designed to maximize overall revenue rather than maximize the price of each ticket. By reducing the ticket price by ₦500 once attendance exceeds 50%, the cinema attracts a larger audience, allowing higher ticket volumes to compensate for the lower unit price and potentially generate greater overall profit.</a:t>
            </a:r>
            <a:endParaRPr lang="en-US" sz="2000" b="1" dirty="0">
              <a:solidFill>
                <a:srgbClr val="00CC99"/>
              </a:solidFill>
            </a:endParaRPr>
          </a:p>
          <a:p>
            <a:endParaRPr lang="en-US" dirty="0"/>
          </a:p>
        </p:txBody>
      </p:sp>
      <p:sp>
        <p:nvSpPr>
          <p:cNvPr id="34" name="Rectangle 33">
            <a:extLst>
              <a:ext uri="{FF2B5EF4-FFF2-40B4-BE49-F238E27FC236}">
                <a16:creationId xmlns:a16="http://schemas.microsoft.com/office/drawing/2014/main" id="{23BDEF08-9043-DB0E-A18D-95B387A46DFC}"/>
              </a:ext>
            </a:extLst>
          </p:cNvPr>
          <p:cNvSpPr/>
          <p:nvPr/>
        </p:nvSpPr>
        <p:spPr>
          <a:xfrm>
            <a:off x="548983" y="954860"/>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15B5EEC5-C4E8-3C3B-C579-5FEEE2DE309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84234" y="133159"/>
            <a:ext cx="808053" cy="808053"/>
          </a:xfrm>
          <a:prstGeom prst="rect">
            <a:avLst/>
          </a:prstGeom>
        </p:spPr>
      </p:pic>
      <p:sp>
        <p:nvSpPr>
          <p:cNvPr id="37" name="Title 1">
            <a:extLst>
              <a:ext uri="{FF2B5EF4-FFF2-40B4-BE49-F238E27FC236}">
                <a16:creationId xmlns:a16="http://schemas.microsoft.com/office/drawing/2014/main" id="{BBD9106B-512E-D7AD-0B4F-08FE574A25EF}"/>
              </a:ext>
            </a:extLst>
          </p:cNvPr>
          <p:cNvSpPr>
            <a:spLocks noGrp="1"/>
          </p:cNvSpPr>
          <p:nvPr>
            <p:ph type="ctrTitle"/>
          </p:nvPr>
        </p:nvSpPr>
        <p:spPr>
          <a:xfrm>
            <a:off x="930323" y="1024826"/>
            <a:ext cx="3843164" cy="482570"/>
          </a:xfrm>
        </p:spPr>
        <p:txBody>
          <a:bodyPr anchor="ctr">
            <a:normAutofit fontScale="90000"/>
          </a:bodyPr>
          <a:lstStyle/>
          <a:p>
            <a:pPr algn="l"/>
            <a:r>
              <a:rPr lang="en-US" sz="4000" dirty="0">
                <a:solidFill>
                  <a:srgbClr val="0070C0"/>
                </a:solidFill>
              </a:rPr>
              <a:t>Pricing Strategy</a:t>
            </a:r>
          </a:p>
        </p:txBody>
      </p:sp>
    </p:spTree>
    <p:extLst>
      <p:ext uri="{BB962C8B-B14F-4D97-AF65-F5344CB8AC3E}">
        <p14:creationId xmlns:p14="http://schemas.microsoft.com/office/powerpoint/2010/main" val="1615159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5FCE-002A-C1AB-009D-8CE29589E50E}"/>
              </a:ext>
            </a:extLst>
          </p:cNvPr>
          <p:cNvSpPr>
            <a:spLocks noGrp="1"/>
          </p:cNvSpPr>
          <p:nvPr>
            <p:ph type="title"/>
          </p:nvPr>
        </p:nvSpPr>
        <p:spPr>
          <a:xfrm>
            <a:off x="500984" y="954768"/>
            <a:ext cx="3447197" cy="794497"/>
          </a:xfrm>
        </p:spPr>
        <p:txBody>
          <a:bodyPr>
            <a:normAutofit/>
          </a:bodyPr>
          <a:lstStyle/>
          <a:p>
            <a:r>
              <a:rPr lang="en-US" sz="3600" dirty="0">
                <a:solidFill>
                  <a:srgbClr val="0070C0"/>
                </a:solidFill>
              </a:rPr>
              <a:t>KPI’s Dashboard</a:t>
            </a:r>
          </a:p>
        </p:txBody>
      </p:sp>
      <p:sp>
        <p:nvSpPr>
          <p:cNvPr id="7" name="Rectangle: Rounded Corners 6">
            <a:extLst>
              <a:ext uri="{FF2B5EF4-FFF2-40B4-BE49-F238E27FC236}">
                <a16:creationId xmlns:a16="http://schemas.microsoft.com/office/drawing/2014/main" id="{76CC1949-213E-436F-BDF5-185337C6198C}"/>
              </a:ext>
            </a:extLst>
          </p:cNvPr>
          <p:cNvSpPr/>
          <p:nvPr/>
        </p:nvSpPr>
        <p:spPr>
          <a:xfrm>
            <a:off x="5174774" y="2391393"/>
            <a:ext cx="1979211" cy="994609"/>
          </a:xfrm>
          <a:prstGeom prst="roundRect">
            <a:avLst>
              <a:gd name="adj" fmla="val 5858"/>
            </a:avLst>
          </a:prstGeom>
          <a:solidFill>
            <a:srgbClr val="008080"/>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600" b="0">
                <a:solidFill>
                  <a:schemeClr val="tx1"/>
                </a:solidFill>
              </a:rPr>
              <a:t>Total Fixed </a:t>
            </a:r>
          </a:p>
          <a:p>
            <a:pPr algn="ctr"/>
            <a:r>
              <a:rPr lang="en-US" sz="1600" b="0">
                <a:solidFill>
                  <a:schemeClr val="tx1"/>
                </a:solidFill>
              </a:rPr>
              <a:t>Revenue</a:t>
            </a:r>
          </a:p>
          <a:p>
            <a:pPr algn="ctr"/>
            <a:endParaRPr lang="en-US" sz="1100" b="1">
              <a:solidFill>
                <a:schemeClr val="tx1"/>
              </a:solidFill>
            </a:endParaRPr>
          </a:p>
          <a:p>
            <a:pPr algn="ctr"/>
            <a:r>
              <a:rPr lang="en-US" sz="1200" b="1" i="0" u="none" strike="noStrike">
                <a:solidFill>
                  <a:schemeClr val="tx1"/>
                </a:solidFill>
                <a:effectLst/>
                <a:latin typeface="+mn-lt"/>
                <a:ea typeface="+mn-ea"/>
                <a:cs typeface="+mn-cs"/>
              </a:rPr>
              <a:t>  ₦  43,164,000.00 </a:t>
            </a:r>
            <a:endParaRPr lang="en-US" sz="1200" b="1">
              <a:solidFill>
                <a:schemeClr val="tx1"/>
              </a:solidFill>
            </a:endParaRPr>
          </a:p>
        </p:txBody>
      </p:sp>
      <p:sp>
        <p:nvSpPr>
          <p:cNvPr id="9" name="Rectangle: Rounded Corners 8">
            <a:extLst>
              <a:ext uri="{FF2B5EF4-FFF2-40B4-BE49-F238E27FC236}">
                <a16:creationId xmlns:a16="http://schemas.microsoft.com/office/drawing/2014/main" id="{15042393-1B2F-468F-B6D8-19FF4823571B}"/>
              </a:ext>
            </a:extLst>
          </p:cNvPr>
          <p:cNvSpPr/>
          <p:nvPr/>
        </p:nvSpPr>
        <p:spPr>
          <a:xfrm>
            <a:off x="7487924" y="2381156"/>
            <a:ext cx="1979211" cy="994609"/>
          </a:xfrm>
          <a:prstGeom prst="roundRect">
            <a:avLst>
              <a:gd name="adj" fmla="val 5858"/>
            </a:avLst>
          </a:prstGeom>
          <a:solidFill>
            <a:schemeClr val="accent2">
              <a:lumMod val="75000"/>
            </a:schemeClr>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600" b="0" dirty="0">
                <a:solidFill>
                  <a:schemeClr val="tx1"/>
                </a:solidFill>
              </a:rPr>
              <a:t>Total Full</a:t>
            </a:r>
            <a:r>
              <a:rPr lang="en-US" sz="1600" b="0" baseline="0" dirty="0">
                <a:solidFill>
                  <a:schemeClr val="tx1"/>
                </a:solidFill>
              </a:rPr>
              <a:t> demand </a:t>
            </a:r>
            <a:r>
              <a:rPr lang="en-US" sz="1600" b="0" dirty="0">
                <a:solidFill>
                  <a:schemeClr val="tx1"/>
                </a:solidFill>
              </a:rPr>
              <a:t>Revenue</a:t>
            </a:r>
            <a:r>
              <a:rPr lang="en-US" sz="1100" b="1" i="0" u="none" strike="noStrike" dirty="0">
                <a:solidFill>
                  <a:schemeClr val="lt1"/>
                </a:solidFill>
                <a:effectLst/>
                <a:latin typeface="+mn-lt"/>
                <a:ea typeface="+mn-ea"/>
                <a:cs typeface="+mn-cs"/>
              </a:rPr>
              <a:t>                              </a:t>
            </a:r>
          </a:p>
          <a:p>
            <a:pPr algn="ctr"/>
            <a:endParaRPr lang="en-US" sz="1100" b="1" i="0" u="none" strike="noStrike" dirty="0">
              <a:solidFill>
                <a:schemeClr val="lt1"/>
              </a:solidFill>
              <a:effectLst/>
              <a:latin typeface="+mn-lt"/>
              <a:ea typeface="+mn-ea"/>
              <a:cs typeface="+mn-cs"/>
            </a:endParaRPr>
          </a:p>
          <a:p>
            <a:pPr algn="ctr"/>
            <a:r>
              <a:rPr lang="en-US" sz="1100" b="1" i="0" u="none" strike="noStrike" dirty="0">
                <a:solidFill>
                  <a:schemeClr val="tx1"/>
                </a:solidFill>
                <a:effectLst/>
                <a:latin typeface="+mn-lt"/>
                <a:ea typeface="+mn-ea"/>
                <a:cs typeface="+mn-cs"/>
              </a:rPr>
              <a:t> </a:t>
            </a:r>
            <a:r>
              <a:rPr lang="en-US" sz="1200" b="1" i="0" u="none" strike="noStrike" dirty="0">
                <a:solidFill>
                  <a:schemeClr val="tx1"/>
                </a:solidFill>
                <a:effectLst/>
                <a:latin typeface="+mn-lt"/>
                <a:ea typeface="+mn-ea"/>
                <a:cs typeface="+mn-cs"/>
              </a:rPr>
              <a:t>₦  42,359,500.00 </a:t>
            </a:r>
            <a:endParaRPr lang="en-US" sz="1200" b="1" dirty="0">
              <a:solidFill>
                <a:schemeClr val="tx1"/>
              </a:solidFill>
            </a:endParaRPr>
          </a:p>
        </p:txBody>
      </p:sp>
      <p:sp>
        <p:nvSpPr>
          <p:cNvPr id="13" name="Rectangle: Rounded Corners 12">
            <a:extLst>
              <a:ext uri="{FF2B5EF4-FFF2-40B4-BE49-F238E27FC236}">
                <a16:creationId xmlns:a16="http://schemas.microsoft.com/office/drawing/2014/main" id="{C047C0A4-BF82-4CA8-B37F-2953EAAC61C8}"/>
              </a:ext>
            </a:extLst>
          </p:cNvPr>
          <p:cNvSpPr/>
          <p:nvPr/>
        </p:nvSpPr>
        <p:spPr>
          <a:xfrm>
            <a:off x="2736804" y="2391393"/>
            <a:ext cx="1979211" cy="994609"/>
          </a:xfrm>
          <a:prstGeom prst="roundRect">
            <a:avLst>
              <a:gd name="adj" fmla="val 5858"/>
            </a:avLst>
          </a:prstGeom>
          <a:solidFill>
            <a:srgbClr val="0070C0"/>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600" b="0">
                <a:solidFill>
                  <a:schemeClr val="tx1"/>
                </a:solidFill>
              </a:rPr>
              <a:t>Total Optimized Revenue</a:t>
            </a:r>
          </a:p>
          <a:p>
            <a:pPr algn="ctr"/>
            <a:endParaRPr lang="en-US" sz="1100" b="1">
              <a:solidFill>
                <a:schemeClr val="tx1"/>
              </a:solidFill>
            </a:endParaRPr>
          </a:p>
          <a:p>
            <a:pPr algn="ctr"/>
            <a:r>
              <a:rPr lang="en-US" sz="1200" b="1" i="0" u="none" strike="noStrike">
                <a:solidFill>
                  <a:schemeClr val="tx1"/>
                </a:solidFill>
                <a:effectLst/>
                <a:latin typeface="+mn-lt"/>
                <a:ea typeface="+mn-ea"/>
                <a:cs typeface="+mn-cs"/>
              </a:rPr>
              <a:t> ₦ 40,662,000.00 </a:t>
            </a:r>
            <a:endParaRPr lang="en-US" sz="1200" b="1">
              <a:solidFill>
                <a:schemeClr val="tx1"/>
              </a:solidFill>
            </a:endParaRPr>
          </a:p>
        </p:txBody>
      </p:sp>
      <p:sp>
        <p:nvSpPr>
          <p:cNvPr id="18" name="Rectangle: Rounded Corners 17">
            <a:extLst>
              <a:ext uri="{FF2B5EF4-FFF2-40B4-BE49-F238E27FC236}">
                <a16:creationId xmlns:a16="http://schemas.microsoft.com/office/drawing/2014/main" id="{893EA750-A40F-1E9C-98B0-4AE14424A812}"/>
              </a:ext>
            </a:extLst>
          </p:cNvPr>
          <p:cNvSpPr/>
          <p:nvPr/>
        </p:nvSpPr>
        <p:spPr>
          <a:xfrm>
            <a:off x="3844415" y="4000102"/>
            <a:ext cx="2126479" cy="994609"/>
          </a:xfrm>
          <a:prstGeom prst="roundRect">
            <a:avLst>
              <a:gd name="adj" fmla="val 5858"/>
            </a:avLst>
          </a:prstGeom>
          <a:solidFill>
            <a:srgbClr val="00CC99"/>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600" b="0" dirty="0">
                <a:solidFill>
                  <a:schemeClr val="tx1"/>
                </a:solidFill>
              </a:rPr>
              <a:t>Revenue shortfall after Optimization</a:t>
            </a:r>
            <a:r>
              <a:rPr lang="en-US" sz="1100" b="1" i="0" u="none" strike="noStrike" dirty="0">
                <a:solidFill>
                  <a:schemeClr val="lt1"/>
                </a:solidFill>
                <a:effectLst/>
                <a:latin typeface="+mn-lt"/>
                <a:ea typeface="+mn-ea"/>
                <a:cs typeface="+mn-cs"/>
              </a:rPr>
              <a:t>                            </a:t>
            </a:r>
          </a:p>
          <a:p>
            <a:pPr algn="ctr"/>
            <a:endParaRPr lang="en-US" sz="1100" b="1" i="0" u="none" strike="noStrike" dirty="0">
              <a:solidFill>
                <a:schemeClr val="lt1"/>
              </a:solidFill>
              <a:effectLst/>
              <a:latin typeface="+mn-lt"/>
              <a:ea typeface="+mn-ea"/>
              <a:cs typeface="+mn-cs"/>
            </a:endParaRPr>
          </a:p>
          <a:p>
            <a:pPr algn="ctr"/>
            <a:r>
              <a:rPr lang="en-US" sz="1100" b="1" i="0" u="none" strike="noStrike" dirty="0">
                <a:solidFill>
                  <a:schemeClr val="tx1"/>
                </a:solidFill>
                <a:effectLst/>
                <a:latin typeface="+mn-lt"/>
                <a:ea typeface="+mn-ea"/>
                <a:cs typeface="+mn-cs"/>
              </a:rPr>
              <a:t> </a:t>
            </a:r>
            <a:r>
              <a:rPr lang="en-US" sz="1200" b="1" i="0" u="none" strike="noStrike" dirty="0">
                <a:solidFill>
                  <a:schemeClr val="tx1"/>
                </a:solidFill>
                <a:effectLst/>
                <a:latin typeface="+mn-lt"/>
                <a:ea typeface="+mn-ea"/>
                <a:cs typeface="+mn-cs"/>
              </a:rPr>
              <a:t>₦  2,502,000.00 </a:t>
            </a:r>
            <a:endParaRPr lang="en-US" sz="1200" b="1" dirty="0">
              <a:solidFill>
                <a:schemeClr val="tx1"/>
              </a:solidFill>
            </a:endParaRPr>
          </a:p>
        </p:txBody>
      </p:sp>
      <p:sp>
        <p:nvSpPr>
          <p:cNvPr id="26" name="Rectangle: Rounded Corners 25">
            <a:extLst>
              <a:ext uri="{FF2B5EF4-FFF2-40B4-BE49-F238E27FC236}">
                <a16:creationId xmlns:a16="http://schemas.microsoft.com/office/drawing/2014/main" id="{6D6DB925-CB40-E29C-0B8B-29DFDD079AE9}"/>
              </a:ext>
            </a:extLst>
          </p:cNvPr>
          <p:cNvSpPr/>
          <p:nvPr/>
        </p:nvSpPr>
        <p:spPr>
          <a:xfrm>
            <a:off x="6221108" y="4000101"/>
            <a:ext cx="2126479" cy="994609"/>
          </a:xfrm>
          <a:prstGeom prst="roundRect">
            <a:avLst>
              <a:gd name="adj" fmla="val 5858"/>
            </a:avLst>
          </a:prstGeom>
          <a:solidFill>
            <a:schemeClr val="tx2">
              <a:lumMod val="25000"/>
              <a:lumOff val="75000"/>
            </a:schemeClr>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600" b="0" dirty="0">
                <a:solidFill>
                  <a:schemeClr val="tx1"/>
                </a:solidFill>
              </a:rPr>
              <a:t>Revenue shortfall afte</a:t>
            </a:r>
            <a:r>
              <a:rPr lang="en-US" sz="1600" dirty="0">
                <a:solidFill>
                  <a:schemeClr val="tx1"/>
                </a:solidFill>
              </a:rPr>
              <a:t>r </a:t>
            </a:r>
            <a:r>
              <a:rPr lang="en-US" sz="1600">
                <a:solidFill>
                  <a:schemeClr val="tx1"/>
                </a:solidFill>
              </a:rPr>
              <a:t>Unmet Demand</a:t>
            </a:r>
          </a:p>
          <a:p>
            <a:pPr algn="ctr"/>
            <a:endParaRPr lang="en-US" sz="1100" b="1" dirty="0">
              <a:solidFill>
                <a:schemeClr val="tx1"/>
              </a:solidFill>
            </a:endParaRPr>
          </a:p>
          <a:p>
            <a:pPr algn="ctr"/>
            <a:r>
              <a:rPr lang="en-US" sz="1200" b="1" i="0" strike="noStrike" dirty="0">
                <a:solidFill>
                  <a:schemeClr val="tx1"/>
                </a:solidFill>
                <a:effectLst/>
                <a:latin typeface="+mn-lt"/>
                <a:ea typeface="+mn-ea"/>
                <a:cs typeface="+mn-cs"/>
              </a:rPr>
              <a:t> </a:t>
            </a:r>
            <a:r>
              <a:rPr lang="en-US" sz="1200" b="1" dirty="0">
                <a:solidFill>
                  <a:srgbClr val="000000"/>
                </a:solidFill>
                <a:latin typeface="Aptos Narrow" panose="020B0004020202020204" pitchFamily="34" charset="0"/>
              </a:rPr>
              <a:t>₦   1,697,500.00 </a:t>
            </a:r>
            <a:endParaRPr lang="en-US" sz="1200" b="1" dirty="0">
              <a:solidFill>
                <a:schemeClr val="tx1"/>
              </a:solidFill>
            </a:endParaRPr>
          </a:p>
        </p:txBody>
      </p:sp>
      <p:sp>
        <p:nvSpPr>
          <p:cNvPr id="29" name="Rectangle: Rounded Corners 28">
            <a:extLst>
              <a:ext uri="{FF2B5EF4-FFF2-40B4-BE49-F238E27FC236}">
                <a16:creationId xmlns:a16="http://schemas.microsoft.com/office/drawing/2014/main" id="{025A05BA-CCF9-41DC-A043-00B4B6900D81}"/>
              </a:ext>
            </a:extLst>
          </p:cNvPr>
          <p:cNvSpPr/>
          <p:nvPr/>
        </p:nvSpPr>
        <p:spPr>
          <a:xfrm>
            <a:off x="3948181" y="5442477"/>
            <a:ext cx="1979211" cy="994609"/>
          </a:xfrm>
          <a:prstGeom prst="roundRect">
            <a:avLst>
              <a:gd name="adj" fmla="val 5858"/>
            </a:avLst>
          </a:prstGeom>
          <a:solidFill>
            <a:schemeClr val="accent1">
              <a:lumMod val="40000"/>
              <a:lumOff val="60000"/>
            </a:schemeClr>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600" b="0">
                <a:solidFill>
                  <a:schemeClr val="tx1"/>
                </a:solidFill>
              </a:rPr>
              <a:t>Total N</a:t>
            </a:r>
            <a:r>
              <a:rPr lang="en-US" sz="1600" b="0" u="sng">
                <a:solidFill>
                  <a:schemeClr val="tx1"/>
                </a:solidFill>
              </a:rPr>
              <a:t>o</a:t>
            </a:r>
            <a:r>
              <a:rPr lang="en-US" sz="1600" b="0" baseline="0">
                <a:solidFill>
                  <a:schemeClr val="tx1"/>
                </a:solidFill>
              </a:rPr>
              <a:t> of Ticket sold</a:t>
            </a:r>
            <a:endParaRPr lang="en-US" sz="1600" b="0">
              <a:solidFill>
                <a:schemeClr val="tx1"/>
              </a:solidFill>
            </a:endParaRPr>
          </a:p>
          <a:p>
            <a:pPr algn="ctr"/>
            <a:endParaRPr lang="en-US" sz="1100" b="1">
              <a:solidFill>
                <a:schemeClr val="tx1"/>
              </a:solidFill>
            </a:endParaRPr>
          </a:p>
          <a:p>
            <a:pPr algn="ctr"/>
            <a:r>
              <a:rPr lang="en-US" sz="1200" b="1" i="0" u="none" strike="noStrike">
                <a:solidFill>
                  <a:schemeClr val="tx1"/>
                </a:solidFill>
                <a:effectLst/>
                <a:latin typeface="+mn-lt"/>
                <a:ea typeface="+mn-ea"/>
                <a:cs typeface="+mn-cs"/>
              </a:rPr>
              <a:t>9592</a:t>
            </a:r>
            <a:r>
              <a:rPr lang="en-US" sz="1200" b="1">
                <a:solidFill>
                  <a:schemeClr val="tx1"/>
                </a:solidFill>
                <a:effectLst/>
              </a:rPr>
              <a:t> </a:t>
            </a:r>
            <a:endParaRPr lang="en-US" sz="1200" b="1">
              <a:solidFill>
                <a:schemeClr val="tx1"/>
              </a:solidFill>
            </a:endParaRPr>
          </a:p>
        </p:txBody>
      </p:sp>
      <p:sp>
        <p:nvSpPr>
          <p:cNvPr id="31" name="Rectangle: Rounded Corners 30">
            <a:extLst>
              <a:ext uri="{FF2B5EF4-FFF2-40B4-BE49-F238E27FC236}">
                <a16:creationId xmlns:a16="http://schemas.microsoft.com/office/drawing/2014/main" id="{FA9435AA-D2C1-D72A-CCC4-037F20AAEF07}"/>
              </a:ext>
            </a:extLst>
          </p:cNvPr>
          <p:cNvSpPr/>
          <p:nvPr/>
        </p:nvSpPr>
        <p:spPr>
          <a:xfrm>
            <a:off x="6264609" y="5442477"/>
            <a:ext cx="1979211" cy="994609"/>
          </a:xfrm>
          <a:prstGeom prst="roundRect">
            <a:avLst>
              <a:gd name="adj" fmla="val 5858"/>
            </a:avLst>
          </a:prstGeom>
          <a:solidFill>
            <a:schemeClr val="accent2">
              <a:lumMod val="40000"/>
              <a:lumOff val="60000"/>
            </a:schemeClr>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600" b="0" dirty="0">
                <a:solidFill>
                  <a:schemeClr val="tx1"/>
                </a:solidFill>
              </a:rPr>
              <a:t>Total N</a:t>
            </a:r>
            <a:r>
              <a:rPr lang="en-US" sz="1600" b="0" u="sng" dirty="0">
                <a:solidFill>
                  <a:schemeClr val="tx1"/>
                </a:solidFill>
              </a:rPr>
              <a:t>o</a:t>
            </a:r>
            <a:r>
              <a:rPr lang="en-US" sz="1600" b="0" baseline="0" dirty="0">
                <a:solidFill>
                  <a:schemeClr val="tx1"/>
                </a:solidFill>
              </a:rPr>
              <a:t> of Orders</a:t>
            </a:r>
            <a:endParaRPr lang="en-US" sz="1600" b="0" dirty="0">
              <a:solidFill>
                <a:schemeClr val="tx1"/>
              </a:solidFill>
            </a:endParaRPr>
          </a:p>
          <a:p>
            <a:pPr algn="ctr"/>
            <a:endParaRPr lang="en-US" sz="1100" b="1" dirty="0">
              <a:solidFill>
                <a:schemeClr val="tx1"/>
              </a:solidFill>
            </a:endParaRPr>
          </a:p>
          <a:p>
            <a:pPr algn="ctr"/>
            <a:endParaRPr lang="en-US" sz="1100" b="1" dirty="0">
              <a:solidFill>
                <a:schemeClr val="tx1"/>
              </a:solidFill>
            </a:endParaRPr>
          </a:p>
          <a:p>
            <a:pPr algn="ctr"/>
            <a:r>
              <a:rPr lang="en-US" sz="1200" b="1" dirty="0">
                <a:solidFill>
                  <a:srgbClr val="000000"/>
                </a:solidFill>
                <a:latin typeface="Aptos Narrow" panose="020B0004020202020204" pitchFamily="34" charset="0"/>
              </a:rPr>
              <a:t>10080</a:t>
            </a:r>
            <a:endParaRPr lang="en-US" sz="1200" b="1" dirty="0">
              <a:solidFill>
                <a:schemeClr val="tx1"/>
              </a:solidFill>
            </a:endParaRPr>
          </a:p>
        </p:txBody>
      </p:sp>
      <p:sp>
        <p:nvSpPr>
          <p:cNvPr id="32" name="TextBox 31">
            <a:extLst>
              <a:ext uri="{FF2B5EF4-FFF2-40B4-BE49-F238E27FC236}">
                <a16:creationId xmlns:a16="http://schemas.microsoft.com/office/drawing/2014/main" id="{5A0780EA-7254-5679-D3F0-225B89AB6F7B}"/>
              </a:ext>
            </a:extLst>
          </p:cNvPr>
          <p:cNvSpPr txBox="1"/>
          <p:nvPr/>
        </p:nvSpPr>
        <p:spPr>
          <a:xfrm>
            <a:off x="3564340" y="2022061"/>
            <a:ext cx="5063319" cy="369332"/>
          </a:xfrm>
          <a:prstGeom prst="rect">
            <a:avLst/>
          </a:prstGeom>
          <a:noFill/>
        </p:spPr>
        <p:txBody>
          <a:bodyPr wrap="square" rtlCol="0">
            <a:spAutoFit/>
          </a:bodyPr>
          <a:lstStyle/>
          <a:p>
            <a:pPr algn="ctr"/>
            <a:r>
              <a:rPr lang="en-US" b="1" u="sng" dirty="0">
                <a:solidFill>
                  <a:srgbClr val="0070C0"/>
                </a:solidFill>
              </a:rPr>
              <a:t>Revenue</a:t>
            </a:r>
          </a:p>
        </p:txBody>
      </p:sp>
      <p:sp>
        <p:nvSpPr>
          <p:cNvPr id="34" name="TextBox 33">
            <a:extLst>
              <a:ext uri="{FF2B5EF4-FFF2-40B4-BE49-F238E27FC236}">
                <a16:creationId xmlns:a16="http://schemas.microsoft.com/office/drawing/2014/main" id="{8B0E09E0-9983-2F84-8064-9957ADBFFB49}"/>
              </a:ext>
            </a:extLst>
          </p:cNvPr>
          <p:cNvSpPr txBox="1"/>
          <p:nvPr/>
        </p:nvSpPr>
        <p:spPr>
          <a:xfrm>
            <a:off x="3564339" y="3524619"/>
            <a:ext cx="5063319" cy="369332"/>
          </a:xfrm>
          <a:prstGeom prst="rect">
            <a:avLst/>
          </a:prstGeom>
          <a:noFill/>
        </p:spPr>
        <p:txBody>
          <a:bodyPr wrap="square" rtlCol="0">
            <a:spAutoFit/>
          </a:bodyPr>
          <a:lstStyle/>
          <a:p>
            <a:pPr algn="ctr"/>
            <a:r>
              <a:rPr lang="en-US" b="1" u="sng" dirty="0">
                <a:solidFill>
                  <a:srgbClr val="0070C0"/>
                </a:solidFill>
              </a:rPr>
              <a:t>Revenue Shortfall</a:t>
            </a:r>
            <a:endParaRPr lang="en-US" b="1" u="sng" dirty="0"/>
          </a:p>
        </p:txBody>
      </p:sp>
      <p:sp>
        <p:nvSpPr>
          <p:cNvPr id="36" name="TextBox 35">
            <a:extLst>
              <a:ext uri="{FF2B5EF4-FFF2-40B4-BE49-F238E27FC236}">
                <a16:creationId xmlns:a16="http://schemas.microsoft.com/office/drawing/2014/main" id="{D2C40F83-7725-8ECF-AD25-E2AA2A4B8B3F}"/>
              </a:ext>
            </a:extLst>
          </p:cNvPr>
          <p:cNvSpPr txBox="1"/>
          <p:nvPr/>
        </p:nvSpPr>
        <p:spPr>
          <a:xfrm>
            <a:off x="3564338" y="5033928"/>
            <a:ext cx="5063319" cy="369332"/>
          </a:xfrm>
          <a:prstGeom prst="rect">
            <a:avLst/>
          </a:prstGeom>
          <a:noFill/>
        </p:spPr>
        <p:txBody>
          <a:bodyPr wrap="square" rtlCol="0">
            <a:spAutoFit/>
          </a:bodyPr>
          <a:lstStyle/>
          <a:p>
            <a:pPr algn="ctr"/>
            <a:r>
              <a:rPr lang="en-US" b="1" u="sng" dirty="0">
                <a:solidFill>
                  <a:srgbClr val="0070C0"/>
                </a:solidFill>
              </a:rPr>
              <a:t>Metrics</a:t>
            </a:r>
          </a:p>
        </p:txBody>
      </p:sp>
      <p:sp>
        <p:nvSpPr>
          <p:cNvPr id="38" name="Rectangle 37">
            <a:extLst>
              <a:ext uri="{FF2B5EF4-FFF2-40B4-BE49-F238E27FC236}">
                <a16:creationId xmlns:a16="http://schemas.microsoft.com/office/drawing/2014/main" id="{173A8B3A-DF25-F8F2-4C82-CDE83A1970D1}"/>
              </a:ext>
            </a:extLst>
          </p:cNvPr>
          <p:cNvSpPr/>
          <p:nvPr/>
        </p:nvSpPr>
        <p:spPr>
          <a:xfrm>
            <a:off x="548983" y="954860"/>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0D04FF41-5E00-26EC-47A5-630BB39B76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4234" y="133159"/>
            <a:ext cx="808053" cy="808053"/>
          </a:xfrm>
          <a:prstGeom prst="rect">
            <a:avLst/>
          </a:prstGeom>
        </p:spPr>
      </p:pic>
    </p:spTree>
    <p:extLst>
      <p:ext uri="{BB962C8B-B14F-4D97-AF65-F5344CB8AC3E}">
        <p14:creationId xmlns:p14="http://schemas.microsoft.com/office/powerpoint/2010/main" val="419275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D847AD1-7041-4AC7-8BB8-C353E7116D31}"/>
              </a:ext>
            </a:extLst>
          </p:cNvPr>
          <p:cNvSpPr>
            <a:spLocks noGrp="1"/>
          </p:cNvSpPr>
          <p:nvPr>
            <p:ph idx="1"/>
          </p:nvPr>
        </p:nvSpPr>
        <p:spPr>
          <a:xfrm>
            <a:off x="838200" y="1801505"/>
            <a:ext cx="5257800" cy="2415654"/>
          </a:xfrm>
          <a:prstGeom prst="roundRect">
            <a:avLst>
              <a:gd name="adj" fmla="val 5858"/>
            </a:avLst>
          </a:prstGeom>
          <a:solidFill>
            <a:schemeClr val="bg1"/>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n-US" sz="1600">
                <a:solidFill>
                  <a:srgbClr val="0D66F7"/>
                </a:solidFill>
                <a:latin typeface="+mn-lt"/>
                <a:ea typeface="+mn-ea"/>
                <a:cs typeface="+mn-cs"/>
              </a:rPr>
              <a:t>Monthly</a:t>
            </a:r>
            <a:r>
              <a:rPr lang="en-US" sz="1600" baseline="0">
                <a:solidFill>
                  <a:srgbClr val="0D66F7"/>
                </a:solidFill>
                <a:latin typeface="+mn-lt"/>
                <a:ea typeface="+mn-ea"/>
                <a:cs typeface="+mn-cs"/>
              </a:rPr>
              <a:t> Rvenue</a:t>
            </a:r>
            <a:endParaRPr lang="en-US" sz="1600">
              <a:solidFill>
                <a:srgbClr val="0D66F7"/>
              </a:solidFill>
              <a:latin typeface="+mn-lt"/>
              <a:ea typeface="+mn-ea"/>
              <a:cs typeface="+mn-cs"/>
            </a:endParaRPr>
          </a:p>
        </p:txBody>
      </p:sp>
      <p:graphicFrame>
        <p:nvGraphicFramePr>
          <p:cNvPr id="7" name="Chart 6">
            <a:extLst>
              <a:ext uri="{FF2B5EF4-FFF2-40B4-BE49-F238E27FC236}">
                <a16:creationId xmlns:a16="http://schemas.microsoft.com/office/drawing/2014/main" id="{020E2A1B-5A3B-4887-9FB5-1CFB5A3B88A3}"/>
              </a:ext>
            </a:extLst>
          </p:cNvPr>
          <p:cNvGraphicFramePr>
            <a:graphicFrameLocks/>
          </p:cNvGraphicFramePr>
          <p:nvPr>
            <p:extLst>
              <p:ext uri="{D42A27DB-BD31-4B8C-83A1-F6EECF244321}">
                <p14:modId xmlns:p14="http://schemas.microsoft.com/office/powerpoint/2010/main" val="3333946898"/>
              </p:ext>
            </p:extLst>
          </p:nvPr>
        </p:nvGraphicFramePr>
        <p:xfrm>
          <a:off x="961348" y="2183643"/>
          <a:ext cx="5134652" cy="2033516"/>
        </p:xfrm>
        <a:graphic>
          <a:graphicData uri="http://schemas.openxmlformats.org/drawingml/2006/chart">
            <c:chart xmlns:c="http://schemas.openxmlformats.org/drawingml/2006/chart" xmlns:r="http://schemas.openxmlformats.org/officeDocument/2006/relationships" r:id="rId2"/>
          </a:graphicData>
        </a:graphic>
      </p:graphicFrame>
      <p:sp>
        <p:nvSpPr>
          <p:cNvPr id="8" name="Content Placeholder 5">
            <a:extLst>
              <a:ext uri="{FF2B5EF4-FFF2-40B4-BE49-F238E27FC236}">
                <a16:creationId xmlns:a16="http://schemas.microsoft.com/office/drawing/2014/main" id="{A7387F87-845A-4554-08F4-0B189596F438}"/>
              </a:ext>
            </a:extLst>
          </p:cNvPr>
          <p:cNvSpPr txBox="1">
            <a:spLocks/>
          </p:cNvSpPr>
          <p:nvPr/>
        </p:nvSpPr>
        <p:spPr>
          <a:xfrm>
            <a:off x="6219147" y="1801506"/>
            <a:ext cx="5134652" cy="4885898"/>
          </a:xfrm>
          <a:prstGeom prst="roundRect">
            <a:avLst>
              <a:gd name="adj" fmla="val 5858"/>
            </a:avLst>
          </a:prstGeom>
          <a:solidFill>
            <a:schemeClr val="bg1"/>
          </a:solidFill>
          <a:ln w="9525" cap="flat" cmpd="sng" algn="ctr">
            <a:solidFill>
              <a:schemeClr val="tx1">
                <a:lumMod val="50000"/>
                <a:lumOff val="50000"/>
              </a:schemeClr>
            </a:solidFill>
            <a:prstDash val="solid"/>
            <a:miter lim="800000"/>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Char char="•"/>
              <a:defRPr sz="1100" kern="1200">
                <a:solidFill>
                  <a:schemeClr val="lt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Char char="•"/>
              <a:defRPr sz="1100" kern="1200">
                <a:solidFill>
                  <a:schemeClr val="lt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Char char="•"/>
              <a:defRPr sz="1100" kern="1200">
                <a:solidFill>
                  <a:schemeClr val="l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Char char="•"/>
              <a:defRPr sz="1100" kern="1200">
                <a:solidFill>
                  <a:schemeClr val="l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Char char="•"/>
              <a:defRPr sz="1100" kern="1200">
                <a:solidFill>
                  <a:schemeClr val="lt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Char char="•"/>
              <a:defRPr sz="1100" kern="1200">
                <a:solidFill>
                  <a:schemeClr val="lt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Char char="•"/>
              <a:defRPr sz="1100" kern="1200">
                <a:solidFill>
                  <a:schemeClr val="lt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Char char="•"/>
              <a:defRPr sz="1100" kern="1200">
                <a:solidFill>
                  <a:schemeClr val="lt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Char char="•"/>
              <a:defRPr sz="1100" kern="1200">
                <a:solidFill>
                  <a:schemeClr val="lt1"/>
                </a:solidFill>
                <a:latin typeface="+mn-lt"/>
                <a:ea typeface="+mn-ea"/>
                <a:cs typeface="+mn-cs"/>
              </a:defRPr>
            </a:lvl9pPr>
          </a:lstStyle>
          <a:p>
            <a:pPr algn="ctr">
              <a:buNone/>
            </a:pPr>
            <a:endParaRPr lang="en-US" sz="1600" dirty="0">
              <a:solidFill>
                <a:srgbClr val="0D66F7"/>
              </a:solidFill>
            </a:endParaRPr>
          </a:p>
        </p:txBody>
      </p:sp>
      <p:graphicFrame>
        <p:nvGraphicFramePr>
          <p:cNvPr id="9" name="Chart 8">
            <a:extLst>
              <a:ext uri="{FF2B5EF4-FFF2-40B4-BE49-F238E27FC236}">
                <a16:creationId xmlns:a16="http://schemas.microsoft.com/office/drawing/2014/main" id="{984E93E5-176E-469F-8C76-4AAA2A256F76}"/>
              </a:ext>
            </a:extLst>
          </p:cNvPr>
          <p:cNvGraphicFramePr>
            <a:graphicFrameLocks/>
          </p:cNvGraphicFramePr>
          <p:nvPr>
            <p:extLst>
              <p:ext uri="{D42A27DB-BD31-4B8C-83A1-F6EECF244321}">
                <p14:modId xmlns:p14="http://schemas.microsoft.com/office/powerpoint/2010/main" val="3177797605"/>
              </p:ext>
            </p:extLst>
          </p:nvPr>
        </p:nvGraphicFramePr>
        <p:xfrm>
          <a:off x="6701050" y="2183642"/>
          <a:ext cx="4652749" cy="4309234"/>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Rounded Corners 9">
            <a:extLst>
              <a:ext uri="{FF2B5EF4-FFF2-40B4-BE49-F238E27FC236}">
                <a16:creationId xmlns:a16="http://schemas.microsoft.com/office/drawing/2014/main" id="{96A1FBC7-46B9-44A3-8DF0-B8CCA66CAE3C}"/>
              </a:ext>
            </a:extLst>
          </p:cNvPr>
          <p:cNvSpPr/>
          <p:nvPr/>
        </p:nvSpPr>
        <p:spPr>
          <a:xfrm>
            <a:off x="838199" y="4327976"/>
            <a:ext cx="5257800" cy="2359428"/>
          </a:xfrm>
          <a:prstGeom prst="roundRect">
            <a:avLst>
              <a:gd name="adj" fmla="val 5858"/>
            </a:avLst>
          </a:prstGeom>
          <a:solidFill>
            <a:schemeClr val="bg1"/>
          </a:solidFill>
          <a:ln w="9525">
            <a:solidFill>
              <a:schemeClr val="tx1">
                <a:lumMod val="50000"/>
                <a:lumOff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l"/>
            <a:endParaRPr lang="en-US" sz="1100">
              <a:solidFill>
                <a:schemeClr val="lt1"/>
              </a:solidFill>
              <a:latin typeface="+mn-lt"/>
              <a:ea typeface="+mn-ea"/>
              <a:cs typeface="+mn-cs"/>
            </a:endParaRPr>
          </a:p>
        </p:txBody>
      </p:sp>
      <p:graphicFrame>
        <p:nvGraphicFramePr>
          <p:cNvPr id="11" name="Chart 10">
            <a:extLst>
              <a:ext uri="{FF2B5EF4-FFF2-40B4-BE49-F238E27FC236}">
                <a16:creationId xmlns:a16="http://schemas.microsoft.com/office/drawing/2014/main" id="{2FCCF2AF-4529-442E-9645-FE3A73FB81AF}"/>
              </a:ext>
            </a:extLst>
          </p:cNvPr>
          <p:cNvGraphicFramePr>
            <a:graphicFrameLocks/>
          </p:cNvGraphicFramePr>
          <p:nvPr>
            <p:extLst>
              <p:ext uri="{D42A27DB-BD31-4B8C-83A1-F6EECF244321}">
                <p14:modId xmlns:p14="http://schemas.microsoft.com/office/powerpoint/2010/main" val="2370017267"/>
              </p:ext>
            </p:extLst>
          </p:nvPr>
        </p:nvGraphicFramePr>
        <p:xfrm>
          <a:off x="961347" y="4327976"/>
          <a:ext cx="5134651" cy="2285999"/>
        </p:xfrm>
        <a:graphic>
          <a:graphicData uri="http://schemas.openxmlformats.org/drawingml/2006/chart">
            <c:chart xmlns:c="http://schemas.openxmlformats.org/drawingml/2006/chart" xmlns:r="http://schemas.openxmlformats.org/officeDocument/2006/relationships" r:id="rId4"/>
          </a:graphicData>
        </a:graphic>
      </p:graphicFrame>
      <p:sp>
        <p:nvSpPr>
          <p:cNvPr id="13" name="Rectangle 12">
            <a:extLst>
              <a:ext uri="{FF2B5EF4-FFF2-40B4-BE49-F238E27FC236}">
                <a16:creationId xmlns:a16="http://schemas.microsoft.com/office/drawing/2014/main" id="{7D4B7A30-00F5-FB37-073E-E5A737CB6985}"/>
              </a:ext>
            </a:extLst>
          </p:cNvPr>
          <p:cNvSpPr/>
          <p:nvPr/>
        </p:nvSpPr>
        <p:spPr>
          <a:xfrm>
            <a:off x="548983" y="954860"/>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85080D31-A36E-A8B8-0053-05D2DC8E0D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84234" y="133159"/>
            <a:ext cx="808053" cy="808053"/>
          </a:xfrm>
          <a:prstGeom prst="rect">
            <a:avLst/>
          </a:prstGeom>
        </p:spPr>
      </p:pic>
      <p:sp>
        <p:nvSpPr>
          <p:cNvPr id="16" name="Title 1">
            <a:extLst>
              <a:ext uri="{FF2B5EF4-FFF2-40B4-BE49-F238E27FC236}">
                <a16:creationId xmlns:a16="http://schemas.microsoft.com/office/drawing/2014/main" id="{7D10473D-606A-11E7-41F9-D11F3DB7A561}"/>
              </a:ext>
            </a:extLst>
          </p:cNvPr>
          <p:cNvSpPr>
            <a:spLocks noGrp="1"/>
          </p:cNvSpPr>
          <p:nvPr>
            <p:ph type="title"/>
          </p:nvPr>
        </p:nvSpPr>
        <p:spPr>
          <a:xfrm>
            <a:off x="500984" y="954768"/>
            <a:ext cx="3447197" cy="794497"/>
          </a:xfrm>
        </p:spPr>
        <p:txBody>
          <a:bodyPr>
            <a:normAutofit/>
          </a:bodyPr>
          <a:lstStyle/>
          <a:p>
            <a:r>
              <a:rPr lang="en-US" sz="3600" dirty="0">
                <a:solidFill>
                  <a:srgbClr val="0070C0"/>
                </a:solidFill>
              </a:rPr>
              <a:t>Visuals (charts)</a:t>
            </a:r>
          </a:p>
        </p:txBody>
      </p:sp>
    </p:spTree>
    <p:extLst>
      <p:ext uri="{BB962C8B-B14F-4D97-AF65-F5344CB8AC3E}">
        <p14:creationId xmlns:p14="http://schemas.microsoft.com/office/powerpoint/2010/main" val="1289185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95422B-96EE-D47B-1078-00F251601693}"/>
              </a:ext>
            </a:extLst>
          </p:cNvPr>
          <p:cNvSpPr>
            <a:spLocks noGrp="1"/>
          </p:cNvSpPr>
          <p:nvPr>
            <p:ph type="title"/>
          </p:nvPr>
        </p:nvSpPr>
        <p:spPr>
          <a:xfrm>
            <a:off x="500984" y="954768"/>
            <a:ext cx="3447197" cy="794497"/>
          </a:xfrm>
        </p:spPr>
        <p:txBody>
          <a:bodyPr>
            <a:normAutofit/>
          </a:bodyPr>
          <a:lstStyle/>
          <a:p>
            <a:r>
              <a:rPr lang="en-US" sz="3600" dirty="0">
                <a:solidFill>
                  <a:srgbClr val="0070C0"/>
                </a:solidFill>
              </a:rPr>
              <a:t>Insights	</a:t>
            </a:r>
          </a:p>
        </p:txBody>
      </p:sp>
      <p:sp>
        <p:nvSpPr>
          <p:cNvPr id="6" name="Rectangle 5">
            <a:extLst>
              <a:ext uri="{FF2B5EF4-FFF2-40B4-BE49-F238E27FC236}">
                <a16:creationId xmlns:a16="http://schemas.microsoft.com/office/drawing/2014/main" id="{F5D6FDD9-5CDF-EB45-17A0-2B63BFD07B0D}"/>
              </a:ext>
            </a:extLst>
          </p:cNvPr>
          <p:cNvSpPr/>
          <p:nvPr/>
        </p:nvSpPr>
        <p:spPr>
          <a:xfrm>
            <a:off x="548983" y="954860"/>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40C1B10-1C58-5C3B-DBE5-80AFDCE1A0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4234" y="133159"/>
            <a:ext cx="808053" cy="808053"/>
          </a:xfrm>
          <a:prstGeom prst="rect">
            <a:avLst/>
          </a:prstGeom>
        </p:spPr>
      </p:pic>
      <p:sp>
        <p:nvSpPr>
          <p:cNvPr id="9" name="Subtitle 2">
            <a:extLst>
              <a:ext uri="{FF2B5EF4-FFF2-40B4-BE49-F238E27FC236}">
                <a16:creationId xmlns:a16="http://schemas.microsoft.com/office/drawing/2014/main" id="{A7532A7F-3452-C5BF-1CC9-CDF192C68DAC}"/>
              </a:ext>
            </a:extLst>
          </p:cNvPr>
          <p:cNvSpPr txBox="1">
            <a:spLocks/>
          </p:cNvSpPr>
          <p:nvPr/>
        </p:nvSpPr>
        <p:spPr>
          <a:xfrm>
            <a:off x="936454" y="1806445"/>
            <a:ext cx="10151806" cy="419409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70C0"/>
                </a:solidFill>
              </a:rPr>
              <a:t>April generated the highest customer demand, indicating a peak sales period that offers the greatest opportunity for revenue optimization.</a:t>
            </a:r>
          </a:p>
          <a:p>
            <a:r>
              <a:rPr lang="en-US" sz="2400" dirty="0">
                <a:solidFill>
                  <a:srgbClr val="0070C0"/>
                </a:solidFill>
              </a:rPr>
              <a:t>July recorded the lowest customer demand, suggesting an opportunity for promotional pricing or targeted marketing campaigns.</a:t>
            </a:r>
            <a:r>
              <a:rPr lang="en-US" sz="2400" dirty="0">
                <a:solidFill>
                  <a:srgbClr val="0070C0"/>
                </a:solidFill>
                <a:latin typeface="+mj-lt"/>
                <a:ea typeface="+mj-ea"/>
                <a:cs typeface="+mj-cs"/>
              </a:rPr>
              <a:t> </a:t>
            </a:r>
          </a:p>
          <a:p>
            <a:r>
              <a:rPr lang="en-US" sz="2400" dirty="0">
                <a:solidFill>
                  <a:srgbClr val="0070C0"/>
                </a:solidFill>
              </a:rPr>
              <a:t>In the of June a Revenue of </a:t>
            </a:r>
            <a:r>
              <a:rPr lang="en-US" sz="2400" b="1" dirty="0">
                <a:solidFill>
                  <a:srgbClr val="0070C0"/>
                </a:solidFill>
              </a:rPr>
              <a:t>₦1,263,000.00 </a:t>
            </a:r>
            <a:r>
              <a:rPr lang="en-US" sz="2400" dirty="0">
                <a:solidFill>
                  <a:srgbClr val="0070C0"/>
                </a:solidFill>
              </a:rPr>
              <a:t>was met superseding the actual demands.</a:t>
            </a:r>
          </a:p>
          <a:p>
            <a:r>
              <a:rPr lang="en-US" sz="2400" dirty="0">
                <a:solidFill>
                  <a:srgbClr val="0070C0"/>
                </a:solidFill>
              </a:rPr>
              <a:t>In the of March a Revenue of ( - </a:t>
            </a:r>
            <a:r>
              <a:rPr lang="en-US" sz="2400" b="1" dirty="0">
                <a:solidFill>
                  <a:srgbClr val="0070C0"/>
                </a:solidFill>
              </a:rPr>
              <a:t>₦1,458,000.00) </a:t>
            </a:r>
            <a:r>
              <a:rPr lang="en-US" sz="2400" dirty="0">
                <a:solidFill>
                  <a:srgbClr val="0070C0"/>
                </a:solidFill>
              </a:rPr>
              <a:t>was unmet, lower the than the actual demands.</a:t>
            </a:r>
          </a:p>
          <a:p>
            <a:r>
              <a:rPr lang="en-US" sz="2400" dirty="0">
                <a:solidFill>
                  <a:srgbClr val="0070C0"/>
                </a:solidFill>
              </a:rPr>
              <a:t>Revenue lost after Optimization is higher than Revenue lost after unmet demands when compared side by side with Fixed price Revenue.</a:t>
            </a:r>
          </a:p>
          <a:p>
            <a:r>
              <a:rPr lang="en-US" sz="2400" dirty="0">
                <a:solidFill>
                  <a:srgbClr val="0070C0"/>
                </a:solidFill>
              </a:rPr>
              <a:t>Fixed Price can maximized revenue but don’t have the strength to increase demands.</a:t>
            </a:r>
          </a:p>
          <a:p>
            <a:pPr marL="0" indent="0">
              <a:buNone/>
            </a:pPr>
            <a:endParaRPr lang="en-US" sz="2400" dirty="0">
              <a:solidFill>
                <a:srgbClr val="0070C0"/>
              </a:solidFill>
            </a:endParaRPr>
          </a:p>
          <a:p>
            <a:pPr marL="342900" indent="-342900"/>
            <a:endParaRPr lang="en-US" dirty="0"/>
          </a:p>
        </p:txBody>
      </p:sp>
    </p:spTree>
    <p:extLst>
      <p:ext uri="{BB962C8B-B14F-4D97-AF65-F5344CB8AC3E}">
        <p14:creationId xmlns:p14="http://schemas.microsoft.com/office/powerpoint/2010/main" val="312865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81604D-AAF8-A4FB-C840-B95D5637F6E5}"/>
              </a:ext>
            </a:extLst>
          </p:cNvPr>
          <p:cNvSpPr/>
          <p:nvPr/>
        </p:nvSpPr>
        <p:spPr>
          <a:xfrm>
            <a:off x="548983" y="954860"/>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C8BC103-ED3F-140A-62AC-C34D8AFB5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4234" y="133159"/>
            <a:ext cx="808053" cy="808053"/>
          </a:xfrm>
          <a:prstGeom prst="rect">
            <a:avLst/>
          </a:prstGeom>
        </p:spPr>
      </p:pic>
      <p:sp>
        <p:nvSpPr>
          <p:cNvPr id="8" name="Title 1">
            <a:extLst>
              <a:ext uri="{FF2B5EF4-FFF2-40B4-BE49-F238E27FC236}">
                <a16:creationId xmlns:a16="http://schemas.microsoft.com/office/drawing/2014/main" id="{AEBC38A4-6D5B-7A65-917F-3E8A5B3E3ADA}"/>
              </a:ext>
            </a:extLst>
          </p:cNvPr>
          <p:cNvSpPr>
            <a:spLocks noGrp="1"/>
          </p:cNvSpPr>
          <p:nvPr>
            <p:ph type="title"/>
          </p:nvPr>
        </p:nvSpPr>
        <p:spPr>
          <a:xfrm>
            <a:off x="500984" y="954768"/>
            <a:ext cx="4357619" cy="794497"/>
          </a:xfrm>
        </p:spPr>
        <p:txBody>
          <a:bodyPr>
            <a:normAutofit/>
          </a:bodyPr>
          <a:lstStyle/>
          <a:p>
            <a:r>
              <a:rPr lang="en-US" sz="3600" dirty="0">
                <a:solidFill>
                  <a:srgbClr val="0070C0"/>
                </a:solidFill>
              </a:rPr>
              <a:t>Recommendation	</a:t>
            </a:r>
          </a:p>
        </p:txBody>
      </p:sp>
      <p:sp>
        <p:nvSpPr>
          <p:cNvPr id="10" name="Subtitle 2">
            <a:extLst>
              <a:ext uri="{FF2B5EF4-FFF2-40B4-BE49-F238E27FC236}">
                <a16:creationId xmlns:a16="http://schemas.microsoft.com/office/drawing/2014/main" id="{89E303A1-43D9-6631-434D-2CB87479345C}"/>
              </a:ext>
            </a:extLst>
          </p:cNvPr>
          <p:cNvSpPr txBox="1">
            <a:spLocks/>
          </p:cNvSpPr>
          <p:nvPr/>
        </p:nvSpPr>
        <p:spPr>
          <a:xfrm>
            <a:off x="936454" y="1806445"/>
            <a:ext cx="10151806" cy="221517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70C0"/>
                </a:solidFill>
              </a:rPr>
              <a:t>Implement demand-based pricing. </a:t>
            </a:r>
          </a:p>
          <a:p>
            <a:r>
              <a:rPr lang="en-US" sz="2400" dirty="0">
                <a:solidFill>
                  <a:srgbClr val="0070C0"/>
                </a:solidFill>
              </a:rPr>
              <a:t>Increase screenings during high-demand periods. </a:t>
            </a:r>
          </a:p>
          <a:p>
            <a:r>
              <a:rPr lang="en-US" sz="2400" dirty="0">
                <a:solidFill>
                  <a:srgbClr val="0070C0"/>
                </a:solidFill>
              </a:rPr>
              <a:t>Monitor demand trends regularly. </a:t>
            </a:r>
          </a:p>
          <a:p>
            <a:r>
              <a:rPr lang="en-US" sz="2400" dirty="0">
                <a:solidFill>
                  <a:srgbClr val="0070C0"/>
                </a:solidFill>
              </a:rPr>
              <a:t>Use predictive analytics to forecast attendance. </a:t>
            </a:r>
          </a:p>
          <a:p>
            <a:r>
              <a:rPr lang="en-US" sz="2400" dirty="0">
                <a:solidFill>
                  <a:srgbClr val="0070C0"/>
                </a:solidFill>
              </a:rPr>
              <a:t>Review pricing monthly based on customer behavior</a:t>
            </a:r>
            <a:r>
              <a:rPr lang="en-US" sz="2400" dirty="0"/>
              <a:t>. </a:t>
            </a:r>
          </a:p>
          <a:p>
            <a:pPr marL="0" indent="0">
              <a:buNone/>
            </a:pPr>
            <a:endParaRPr lang="en-US" sz="2400" dirty="0">
              <a:solidFill>
                <a:srgbClr val="0070C0"/>
              </a:solidFill>
            </a:endParaRPr>
          </a:p>
          <a:p>
            <a:pPr marL="342900" indent="-342900"/>
            <a:endParaRPr lang="en-US" dirty="0"/>
          </a:p>
        </p:txBody>
      </p:sp>
    </p:spTree>
    <p:extLst>
      <p:ext uri="{BB962C8B-B14F-4D97-AF65-F5344CB8AC3E}">
        <p14:creationId xmlns:p14="http://schemas.microsoft.com/office/powerpoint/2010/main" val="3389179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104270-CB4D-16CE-7251-9533BBE0097B}"/>
              </a:ext>
            </a:extLst>
          </p:cNvPr>
          <p:cNvSpPr>
            <a:spLocks noGrp="1"/>
          </p:cNvSpPr>
          <p:nvPr>
            <p:ph type="title"/>
          </p:nvPr>
        </p:nvSpPr>
        <p:spPr>
          <a:xfrm>
            <a:off x="500984" y="954768"/>
            <a:ext cx="4357619" cy="794497"/>
          </a:xfrm>
        </p:spPr>
        <p:txBody>
          <a:bodyPr>
            <a:normAutofit/>
          </a:bodyPr>
          <a:lstStyle/>
          <a:p>
            <a:r>
              <a:rPr lang="en-US" sz="3600" dirty="0">
                <a:solidFill>
                  <a:srgbClr val="0070C0"/>
                </a:solidFill>
              </a:rPr>
              <a:t>Conclusion:	</a:t>
            </a:r>
          </a:p>
        </p:txBody>
      </p:sp>
      <p:sp>
        <p:nvSpPr>
          <p:cNvPr id="6" name="Rectangle 5">
            <a:extLst>
              <a:ext uri="{FF2B5EF4-FFF2-40B4-BE49-F238E27FC236}">
                <a16:creationId xmlns:a16="http://schemas.microsoft.com/office/drawing/2014/main" id="{D2A8000A-ED30-8051-B97C-D5936E58E47E}"/>
              </a:ext>
            </a:extLst>
          </p:cNvPr>
          <p:cNvSpPr/>
          <p:nvPr/>
        </p:nvSpPr>
        <p:spPr>
          <a:xfrm>
            <a:off x="548983" y="954860"/>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7823758-57F4-6EEE-5394-EC505EFBB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4234" y="133159"/>
            <a:ext cx="808053" cy="808053"/>
          </a:xfrm>
          <a:prstGeom prst="rect">
            <a:avLst/>
          </a:prstGeom>
        </p:spPr>
      </p:pic>
      <p:sp>
        <p:nvSpPr>
          <p:cNvPr id="10" name="TextBox 9">
            <a:extLst>
              <a:ext uri="{FF2B5EF4-FFF2-40B4-BE49-F238E27FC236}">
                <a16:creationId xmlns:a16="http://schemas.microsoft.com/office/drawing/2014/main" id="{693A9FAA-DD7A-4946-DF3F-67C5C8C5CA18}"/>
              </a:ext>
            </a:extLst>
          </p:cNvPr>
          <p:cNvSpPr txBox="1"/>
          <p:nvPr/>
        </p:nvSpPr>
        <p:spPr>
          <a:xfrm>
            <a:off x="736979" y="1806445"/>
            <a:ext cx="10755308" cy="1938992"/>
          </a:xfrm>
          <a:prstGeom prst="rect">
            <a:avLst/>
          </a:prstGeom>
          <a:noFill/>
        </p:spPr>
        <p:txBody>
          <a:bodyPr wrap="square">
            <a:spAutoFit/>
          </a:bodyPr>
          <a:lstStyle/>
          <a:p>
            <a:pPr>
              <a:buNone/>
            </a:pPr>
            <a:r>
              <a:rPr lang="en-US" sz="2400" dirty="0">
                <a:solidFill>
                  <a:srgbClr val="0070C0"/>
                </a:solidFill>
              </a:rPr>
              <a:t>The current demand-based pricing strategy did not outperform the fixed pricing model in terms of total revenue. This suggests that the pricing thresholds or discount levels should be refined before implementation. Further optimization using customer behavior and predictive analytics may improve future profitability.</a:t>
            </a:r>
          </a:p>
        </p:txBody>
      </p:sp>
    </p:spTree>
    <p:extLst>
      <p:ext uri="{BB962C8B-B14F-4D97-AF65-F5344CB8AC3E}">
        <p14:creationId xmlns:p14="http://schemas.microsoft.com/office/powerpoint/2010/main" val="172331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94546-A41A-150D-EC94-2D1A322B79C5}"/>
              </a:ext>
            </a:extLst>
          </p:cNvPr>
          <p:cNvSpPr>
            <a:spLocks noGrp="1"/>
          </p:cNvSpPr>
          <p:nvPr>
            <p:ph type="title"/>
          </p:nvPr>
        </p:nvSpPr>
        <p:spPr>
          <a:xfrm>
            <a:off x="1124803" y="2603358"/>
            <a:ext cx="10515600" cy="1325563"/>
          </a:xfrm>
        </p:spPr>
        <p:txBody>
          <a:bodyPr/>
          <a:lstStyle/>
          <a:p>
            <a:pPr algn="ctr"/>
            <a:r>
              <a:rPr lang="en-US" dirty="0">
                <a:solidFill>
                  <a:srgbClr val="0070C0"/>
                </a:solidFill>
              </a:rPr>
              <a:t>BUSINESS IMPACT</a:t>
            </a:r>
          </a:p>
        </p:txBody>
      </p:sp>
      <p:sp>
        <p:nvSpPr>
          <p:cNvPr id="5" name="Rectangle 4">
            <a:extLst>
              <a:ext uri="{FF2B5EF4-FFF2-40B4-BE49-F238E27FC236}">
                <a16:creationId xmlns:a16="http://schemas.microsoft.com/office/drawing/2014/main" id="{809A7F6E-E73A-DFEA-B95E-6B9CD33953A1}"/>
              </a:ext>
            </a:extLst>
          </p:cNvPr>
          <p:cNvSpPr/>
          <p:nvPr/>
        </p:nvSpPr>
        <p:spPr>
          <a:xfrm>
            <a:off x="548983" y="982156"/>
            <a:ext cx="10943304" cy="57180"/>
          </a:xfrm>
          <a:prstGeom prst="rect">
            <a:avLst/>
          </a:prstGeom>
          <a:ln>
            <a:solidFill>
              <a:srgbClr val="224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1CCE884-FA5D-1726-B46F-5FDD63501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4234" y="133159"/>
            <a:ext cx="808053" cy="808053"/>
          </a:xfrm>
          <a:prstGeom prst="rect">
            <a:avLst/>
          </a:prstGeom>
        </p:spPr>
      </p:pic>
    </p:spTree>
    <p:extLst>
      <p:ext uri="{BB962C8B-B14F-4D97-AF65-F5344CB8AC3E}">
        <p14:creationId xmlns:p14="http://schemas.microsoft.com/office/powerpoint/2010/main" val="2494935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6077</TotalTime>
  <Words>1006</Words>
  <Application>Microsoft Office PowerPoint</Application>
  <PresentationFormat>Widescreen</PresentationFormat>
  <Paragraphs>298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Aptos Narrow</vt:lpstr>
      <vt:lpstr>Arial</vt:lpstr>
      <vt:lpstr>Office Theme</vt:lpstr>
      <vt:lpstr>PowerPoint Presentation</vt:lpstr>
      <vt:lpstr>Business Problem  Objective The cinema owner wanted to determine whether implementing demand-based ticket pricing would increase profitability compared to a fixed pricing strategy.</vt:lpstr>
      <vt:lpstr>Dataset Overview</vt:lpstr>
      <vt:lpstr>Pricing Strategy</vt:lpstr>
      <vt:lpstr>KPI’s Dashboard</vt:lpstr>
      <vt:lpstr>Visuals (charts)</vt:lpstr>
      <vt:lpstr>Insights </vt:lpstr>
      <vt:lpstr>Recommendation </vt:lpstr>
      <vt:lpstr>Conclusion: </vt:lpstr>
      <vt:lpstr>BUSINESS IMPACT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Warehouse Email</dc:creator>
  <cp:lastModifiedBy>Warehouse Email</cp:lastModifiedBy>
  <cp:revision>1</cp:revision>
  <dcterms:created xsi:type="dcterms:W3CDTF">2026-07-16T11:57:08Z</dcterms:created>
  <dcterms:modified xsi:type="dcterms:W3CDTF">2026-07-20T17:21:56Z</dcterms:modified>
</cp:coreProperties>
</file>